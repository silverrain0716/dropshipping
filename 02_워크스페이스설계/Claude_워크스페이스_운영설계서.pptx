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85725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201168" cy="8572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714500"/>
            <a:ext cx="201168" cy="8572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571750"/>
            <a:ext cx="201168" cy="8572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201168" cy="8572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286250"/>
            <a:ext cx="201168" cy="8572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WORKSPACE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설계서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데이터 아비트라지 프로젝트 × Claude 역할 분담 시스템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88920"/>
            <a:ext cx="1353312" cy="457200"/>
          </a:xfrm>
          <a:prstGeom prst="rect">
            <a:avLst>
              <a:gd name="adj" fmla="val 10000"/>
            </a:avLst>
          </a:prstGeom>
          <a:solidFill>
            <a:srgbClr val="7C3AED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457200"/>
          </a:xfrm>
          <a:prstGeom prst="rect">
            <a:avLst>
              <a:gd name="adj" fmla="val 8333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PM·총괄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01952" y="2788920"/>
            <a:ext cx="1353312" cy="457200"/>
          </a:xfrm>
          <a:prstGeom prst="rect">
            <a:avLst>
              <a:gd name="adj" fmla="val 10000"/>
            </a:avLst>
          </a:prstGeom>
          <a:solidFill>
            <a:srgbClr val="0EA5E9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01952" y="2788920"/>
            <a:ext cx="54864" cy="457200"/>
          </a:xfrm>
          <a:prstGeom prst="rect">
            <a:avLst>
              <a:gd name="adj" fmla="val 83333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1993392" y="27889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크롤러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46704" y="2788920"/>
            <a:ext cx="1353312" cy="457200"/>
          </a:xfrm>
          <a:prstGeom prst="rect">
            <a:avLst>
              <a:gd name="adj" fmla="val 10000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346704" y="2788920"/>
            <a:ext cx="54864" cy="457200"/>
          </a:xfrm>
          <a:prstGeom prst="rect">
            <a:avLst>
              <a:gd name="adj" fmla="val 83333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438144" y="27889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데이터분석가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91456" y="2788920"/>
            <a:ext cx="1353312" cy="457200"/>
          </a:xfrm>
          <a:prstGeom prst="rect">
            <a:avLst>
              <a:gd name="adj" fmla="val 10000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91456" y="2788920"/>
            <a:ext cx="54864" cy="457200"/>
          </a:xfrm>
          <a:prstGeom prst="rect">
            <a:avLst>
              <a:gd name="adj" fmla="val 83333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82896" y="27889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리스팅전문가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6208" y="2788920"/>
            <a:ext cx="1353312" cy="457200"/>
          </a:xfrm>
          <a:prstGeom prst="rect">
            <a:avLst>
              <a:gd name="adj" fmla="val 10000"/>
            </a:avLst>
          </a:prstGeom>
          <a:solidFill>
            <a:srgbClr val="EF4444">
              <a:alpha val="1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36208" y="2788920"/>
            <a:ext cx="54864" cy="457200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27889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CS·운영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80960" y="2788920"/>
            <a:ext cx="1353312" cy="457200"/>
          </a:xfrm>
          <a:prstGeom prst="rect">
            <a:avLst>
              <a:gd name="adj" fmla="val 10000"/>
            </a:avLst>
          </a:prstGeom>
          <a:solidFill>
            <a:srgbClr val="6366F1">
              <a:alpha val="1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2788920"/>
            <a:ext cx="54864" cy="457200"/>
          </a:xfrm>
          <a:prstGeom prst="rect">
            <a:avLst>
              <a:gd name="adj" fmla="val 83333"/>
            </a:avLst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27889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리스크감시자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6개 프로젝트 | Claude.ai Pro | Projects 기능 활용 | 1년 마스터플랜 연동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858768"/>
            <a:ext cx="2761488" cy="914400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858768"/>
            <a:ext cx="2761488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챗 = 컨텍스트 초기화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2245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지식베이스가 기억을 대신한다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55848" y="3858768"/>
            <a:ext cx="2761488" cy="914400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55848" y="3858768"/>
            <a:ext cx="2761488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7" name="Text 35"/>
          <p:cNvSpPr/>
          <p:nvPr/>
        </p:nvSpPr>
        <p:spPr>
          <a:xfrm>
            <a:off x="3465576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혼용 금지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65576" y="42245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프로젝트 = 한 역할 = 한 목적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54496" y="3858768"/>
            <a:ext cx="2761488" cy="914400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54496" y="3858768"/>
            <a:ext cx="2761488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1" name="Text 39"/>
          <p:cNvSpPr/>
          <p:nvPr/>
        </p:nvSpPr>
        <p:spPr>
          <a:xfrm>
            <a:off x="6364224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 파일이 두뇌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64224" y="42245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PPT를 올리면 어디서든 이어서 진행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워크스페이스 구조 — 6개 프로젝트 역할 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868680"/>
            <a:ext cx="2816352" cy="20116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68680"/>
            <a:ext cx="28163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868680"/>
            <a:ext cx="54864" cy="20116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868680"/>
            <a:ext cx="2816352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9418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PM · 마스터플랜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1371600"/>
            <a:ext cx="1280160" cy="219456"/>
          </a:xfrm>
          <a:prstGeom prst="rect">
            <a:avLst>
              <a:gd name="adj" fmla="val 12500"/>
            </a:avLst>
          </a:prstGeom>
          <a:solidFill>
            <a:srgbClr val="58A6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3716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73936" y="13807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1회 + 큰 결정 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65506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방향 결정, 월간 KPI 리뷰, 전략 조정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2276856"/>
            <a:ext cx="2670048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350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마스터플랜 PPT, KPI 시트, 월간 리포트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868680"/>
            <a:ext cx="2816352" cy="20116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868680"/>
            <a:ext cx="28163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868680"/>
            <a:ext cx="54864" cy="2011680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868680"/>
            <a:ext cx="2816352" cy="438912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9418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0752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크롤러 엔지니어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1371600"/>
            <a:ext cx="1280160" cy="219456"/>
          </a:xfrm>
          <a:prstGeom prst="rect">
            <a:avLst>
              <a:gd name="adj" fmla="val 12500"/>
            </a:avLst>
          </a:prstGeom>
          <a:solidFill>
            <a:srgbClr val="58A6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3716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18304" y="13807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작성·디버깅 시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01568" y="165506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크롤러 코드 작성, 오류 수정, 신규 소스 추가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2276856"/>
            <a:ext cx="2670048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350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crawlers/ 폴더 코드, 에러 로그, 기술 스펙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36208" y="868680"/>
            <a:ext cx="2816352" cy="20116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6208" y="868680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6236208" y="868680"/>
            <a:ext cx="54864" cy="201168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868680"/>
            <a:ext cx="2816352" cy="43891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9418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데이터 분석가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27648" y="1371600"/>
            <a:ext cx="1280160" cy="219456"/>
          </a:xfrm>
          <a:prstGeom prst="rect">
            <a:avLst>
              <a:gd name="adj" fmla="val 12500"/>
            </a:avLst>
          </a:prstGeom>
          <a:solidFill>
            <a:srgbClr val="58A6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13716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662672" y="13807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아침 (15~30분)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45936" y="165506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데이터 위닝 상품 분석, 트렌드 감지, 아비트라지 기회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2276856"/>
            <a:ext cx="2670048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2350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일간 크롤링 CSV, 위닝 상품 기준 문서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2990088"/>
            <a:ext cx="2816352" cy="20116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" y="2990088"/>
            <a:ext cx="28163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" y="2990088"/>
            <a:ext cx="54864" cy="20116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" y="2990088"/>
            <a:ext cx="2816352" cy="438912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" y="3063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리스팅 전문가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38912" y="3493008"/>
            <a:ext cx="1280160" cy="219456"/>
          </a:xfrm>
          <a:prstGeom prst="rect">
            <a:avLst>
              <a:gd name="adj" fmla="val 12500"/>
            </a:avLst>
          </a:prstGeom>
          <a:solidFill>
            <a:srgbClr val="58A6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34930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773936" y="3502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상품 확정 즉시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37764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Etsy/스마트스토어/쿠팡 SEO 리스팅 작성, 번역, A/B 제목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0624" y="4398264"/>
            <a:ext cx="2670048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" y="44714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위닝 상품 리스트, 채널별 SEO 가이드, 기존 리스팅 예시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91840" y="2990088"/>
            <a:ext cx="2816352" cy="20116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91840" y="2990088"/>
            <a:ext cx="2816352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3291840" y="2990088"/>
            <a:ext cx="54864" cy="201168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291840" y="2990088"/>
            <a:ext cx="2816352" cy="43891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383280" y="3063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730752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CS · 운영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383280" y="3493008"/>
            <a:ext cx="1280160" cy="219456"/>
          </a:xfrm>
          <a:prstGeom prst="rect">
            <a:avLst>
              <a:gd name="adj" fmla="val 12500"/>
            </a:avLst>
          </a:prstGeom>
          <a:solidFill>
            <a:srgbClr val="58A6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0" y="34930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18304" y="3502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발생 시 / 주 2~3회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401568" y="37764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 응답, 배송 지연 안내, 리뷰 요청 메시지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364992" y="4398264"/>
            <a:ext cx="2670048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3" name="Text 61"/>
          <p:cNvSpPr/>
          <p:nvPr/>
        </p:nvSpPr>
        <p:spPr>
          <a:xfrm>
            <a:off x="3383280" y="44714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CS 템플릿 모음, 공급사 연락처, 클레임 대응 가이드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36208" y="2990088"/>
            <a:ext cx="2816352" cy="20116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236208" y="2990088"/>
            <a:ext cx="28163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6" name="Shape 64"/>
          <p:cNvSpPr/>
          <p:nvPr/>
        </p:nvSpPr>
        <p:spPr>
          <a:xfrm>
            <a:off x="6236208" y="2990088"/>
            <a:ext cx="54864" cy="2011680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236208" y="2990088"/>
            <a:ext cx="2816352" cy="438912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327648" y="3063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67512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리스크 감시자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327648" y="3493008"/>
            <a:ext cx="1280160" cy="219456"/>
          </a:xfrm>
          <a:prstGeom prst="rect">
            <a:avLst>
              <a:gd name="adj" fmla="val 12500"/>
            </a:avLst>
          </a:prstGeom>
          <a:solidFill>
            <a:srgbClr val="EF4444">
              <a:alpha val="2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327648" y="34930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채팅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662672" y="3502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 (비정기)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345936" y="37764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대응, ToS 위반 체크, 법적 리스크 판단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309360" y="4398264"/>
            <a:ext cx="2670048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5" name="Text 73"/>
          <p:cNvSpPr/>
          <p:nvPr/>
        </p:nvSpPr>
        <p:spPr>
          <a:xfrm>
            <a:off x="6327648" y="44714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(업로드 없음 — 상황별 즉석 판단)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vs 일반 채팅 — 언제 무엇을 써야 하나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42062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96112"/>
            <a:ext cx="4206240" cy="43891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 기능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이럴 때 쓴다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역할로 반복 작업할 때 (매일 분석, 리스팅 등)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계속 참조해야 할 때 (코드, CSV, PPT)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5054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프롬프트를 매번 붙여넣기 싫을 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8895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컨텍스트가 긴 작업 (크롤러 코드 전체 등)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273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톤·포맷이 필요할 때 (CS 응답 등)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장점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023360" cy="256032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3941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지식베이스에 올린 파일 = 모든 채팅에서 자동 참조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4023360" cy="256032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커스텀 지시문 = 역할이 영구 저장됨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4023360" cy="256032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4489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200K 토큰 컨텍스트 (코드·CSV 대용량 가능)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0288" y="896112"/>
            <a:ext cx="42062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896112"/>
            <a:ext cx="4206240" cy="4389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일반 채팅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이럴 때 쓴다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1737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1회성 질문 (가격 계산, 빠른 번역 등)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8304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판단 등 상황별 즉석 대응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25054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실험적 아이디어 탐색 (프로젝트 전 테스트)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28895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컨텍스트가 짧고 파일 참조 불필요한 작업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18304" y="3273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채팅처럼 전략 기획·브레인스토밍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18304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0016" y="3931920"/>
            <a:ext cx="4023360" cy="256032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941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채팅 끝나면 컨텍스트 사라짐 → 중요 결과는 저장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4206240"/>
            <a:ext cx="4023360" cy="256032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파일 올려도 그 채팅에서만 유효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0016" y="4480560"/>
            <a:ext cx="4023360" cy="256032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489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역할 지시를 매번 수동으로 붙여넣어야 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4956048"/>
            <a:ext cx="8458200" cy="0"/>
          </a:xfrm>
          <a:prstGeom prst="rect">
            <a:avLst/>
          </a:prstGeom>
          <a:solidFill>
            <a:srgbClr val="0D111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P1 — PM · 마스터플랜 총괄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"/>
            <a:ext cx="1417320" cy="274320"/>
          </a:xfrm>
          <a:prstGeom prst="rect">
            <a:avLst>
              <a:gd name="adj" fmla="val 13333"/>
            </a:avLst>
          </a:prstGeom>
          <a:solidFill>
            <a:srgbClr val="58A6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64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열기: 주 1회 (매주 월요일) + 큰 의사결정 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역할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88720"/>
            <a:ext cx="8458200" cy="566928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88720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07008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프로젝트가 전체의 두뇌. 방향이 흔들릴 때, KPI가 안 맞을 때, 전략을 바꿔야 할 때 이 프로젝트를 열어 판단한다.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지식베이스 업로드 파일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224528" cy="1673352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마스터플랜_PPT.pptx ← 반드시 업로드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월간_KPI_트래킹.xlsx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443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채널별_수익_요약.csv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32841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프로젝트_결정사항_로그.txt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주요 작업 목록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21762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KPI 달성률 분석 및 다음달 목표 조정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5603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전환 판단 (Etsy → 스마트스토어 진입 가능한가?)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29443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마진 추이 보고 전략 수정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33284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크롤러/리스팅/CS 각 역할에 이번 주 우선순위 지시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37124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증가 여부 체크 및 도구 추가 승인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8770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커스텀 지시문 (Project Instructions / 채팅 첫줄)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169664"/>
            <a:ext cx="8458200" cy="8823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4169664"/>
            <a:ext cx="8458200" cy="2560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system_prompt.txt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4471416"/>
            <a:ext cx="830275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크롤링 기반 글로벌 상품 아비트라지 사업의 PM이자 전략가입니다.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마스터플랜 PPT와 KPI 데이터를 항상 참조하여 답변하세요.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월간 KPI 리뷰 및 달성 여부 판단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채널 전략·타이밍 결정 (Etsy → 스마트스토어 → 쿠팡)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크롤러/리스팅/CS 각 역할의 우선순위 조정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P2 — 크롤러 엔지니어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"/>
            <a:ext cx="1417320" cy="274320"/>
          </a:xfrm>
          <a:prstGeom prst="rect">
            <a:avLst>
              <a:gd name="adj" fmla="val 13333"/>
            </a:avLst>
          </a:prstGeom>
          <a:solidFill>
            <a:srgbClr val="58A6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64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열기: 크롤러 작성·수정·디버깅 시 (비정기, 집중 작업)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역할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88720"/>
            <a:ext cx="8458200" cy="566928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88720"/>
            <a:ext cx="64008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07008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코드의 모든 것을 담당. 여기서 만든 코드가 사업의 데이터 파이프라인이다. 코드 파일을 지식베이스에 올려두면 이전 버전을 기억하고 이어서 개발한다.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지식베이스 업로드 파일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224528" cy="2441448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amazon_crawler.py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ebay_crawler.py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443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tiktok_crawler.py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32841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brand_monitor.py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7124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requirements.txt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40965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에러_로그.txt (차단 발생 시 추가)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주요 작업 목록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0872" y="2139696"/>
            <a:ext cx="4224528" cy="2441448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1762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베스트셀러 TOP100 크롤러 (카테고리별)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25603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이베이 Sold 리스팅 수집기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29443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틱톡샵 트렌드 키워드 크롤러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33284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공홈 가격·재고 모니터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82312" y="37124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자동 실행 설정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2312" y="409651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자동 저장 파이프라인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커스텀 지시문 (Project Instructions / 채팅 첫줄)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937760"/>
            <a:ext cx="8458200" cy="1143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" y="4937760"/>
            <a:ext cx="8458200" cy="2560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4956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system_prompt.txt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" y="5239512"/>
            <a:ext cx="8302752" cy="-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Python 크롤링 전문 엔지니어입니다. Playwright, BeautifulSoup, requests 기반 웹 크롤러를 작성·유지보수합니다.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코드 파일을 항상 참조하여 일관성 있게 개발하세요.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아마존·이베이·틱톡샵·브랜드 공홈 크롤러 작성 및 개선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IP 차단 우회 로직 (딜레이·UA 로테이션·프록시) 구현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GitHub Actions cron 스케줄 설정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P3 — 데이터 분석가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"/>
            <a:ext cx="1417320" cy="274320"/>
          </a:xfrm>
          <a:prstGeom prst="rect">
            <a:avLst>
              <a:gd name="adj" fmla="val 13333"/>
            </a:avLst>
          </a:prstGeom>
          <a:solidFill>
            <a:srgbClr val="58A6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64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열기: 매일 아침 (15~30분) — 크롤링 완료 후 즉시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역할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88720"/>
            <a:ext cx="8458200" cy="56692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88720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07008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데이터를 받아 오늘 진입할 상품을 결정하는 역할. 매일 CSV를 올리면 위닝 상품 TOP5를 뽑아준다. 이 프로젝트가 사업의 일간 엔진.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지식베이스 업로드 파일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224528" cy="1673352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위닝_상품_선별_기준.txt ← 핵심 판단 기준 문서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today_crawl.csv (매일 교체 업로드)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443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위닝_상품_누적_DB.csv (주간 업데이트)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32841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채널별_마진_계산_공식.txt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주요 작업 목록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21762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크롤링 데이터 → 위닝 상품 TOP5 선별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5603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급등 감지 (48h 내 순위 200위+ 상승)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29443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아비트라지 기회 포착 (채널간 20%+ 차이)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33284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DB 누적 업데이트 (주간)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37124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위닝 상품 패턴 분석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8770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커스텀 지시문 (Project Instructions / 채팅 첫줄)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169664"/>
            <a:ext cx="8458200" cy="8823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4169664"/>
            <a:ext cx="8458200" cy="2560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system_prompt.txt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4471416"/>
            <a:ext cx="830275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이커머스 데이터 분석 전문가입니다. 크롤링된 상품 데이터를 분석하여 오늘 진입할 위닝 상품을 선별합니다.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CSV 데이터와 위닝 기준 문서를 반드시 참조하세요.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일간 크롤링 데이터 분석 (트렌드 급등, 가격 변동)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위닝 상품 TOP5 선별 (점수 기준 명시)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가격 아비트라지 기회 감지 (채널간 가격 차이)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P4 — 리스팅 전문가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"/>
            <a:ext cx="1417320" cy="274320"/>
          </a:xfrm>
          <a:prstGeom prst="rect">
            <a:avLst>
              <a:gd name="adj" fmla="val 13333"/>
            </a:avLst>
          </a:prstGeom>
          <a:solidFill>
            <a:srgbClr val="58A6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64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열기: 위닝 상품 확정 즉시 (데이터 분석가로부터 전달받은 후)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역할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88720"/>
            <a:ext cx="8458200" cy="56692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88720"/>
            <a:ext cx="64008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07008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상품을 각 채널에 최적화된 리스팅으로 변환. SEO 제목·태그·설명을 한국어/영어로 작성. 채널마다 규칙이 다르므로 가이드 문서가 지식베이스에 필수.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지식베이스 업로드 파일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Etsy_SEO_가이드.txt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스마트스토어_SEO_가이드.txt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443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쿠팡_SEO_가이드.txt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32841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기존_위닝_리스팅_예시.txt (성과 좋은 리스팅 모음)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7124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오늘_위닝상품_전달서.txt (P3에서 복사·붙여넣기)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주요 작업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21762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영어 리스팅 (제목·태그·설명)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25603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한국어 리스팅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29443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아이템위너 리스팅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33284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테스트용 제목 변형 생성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37124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책정 (마진 역산 포함)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2611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커스텀 지시문 (Project Instructions / 채팅 첫줄)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553712"/>
            <a:ext cx="8458200" cy="4983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" y="4553712"/>
            <a:ext cx="8458200" cy="2560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572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system_prompt.txt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4855464"/>
            <a:ext cx="8302752" cy="169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글로벌 이커머스 리스팅 최적화 전문가입니다. Etsy(영어), 스마트스토어(한국어), 쿠팡(한국어)에 특화된 SEO 리스팅을 작성합니다.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채널별 SEO 가이드와 기존 위닝 리스팅 예시를 반드시 참조하세요.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위닝 상품의 채널별 SEO 제목 3개 안 제시 (A/B 테스트용)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태그 13개 (Etsy) / 검색 태그 (스마트스토어) 작성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상품 설명문 (영어/한국어) 작성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P5 — CS · 운영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"/>
            <a:ext cx="1417320" cy="274320"/>
          </a:xfrm>
          <a:prstGeom prst="rect">
            <a:avLst>
              <a:gd name="adj" fmla="val 13333"/>
            </a:avLst>
          </a:prstGeom>
          <a:solidFill>
            <a:srgbClr val="58A6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64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열기: 주문 발생 시 / 주 2~3회 정기 CS 처리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역할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88720"/>
            <a:ext cx="8458200" cy="56692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88720"/>
            <a:ext cx="64008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07008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문의·클레임·배송 지연 대응을 담당. 영어(Etsy)와 한국어(KR채널) 응답을 모두 처리. 기존 템플릿이 지식베이스에 쌓일수록 응답 속도가 빨라진다.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지식베이스 업로드 파일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CS_템플릿_마스터.txt (모든 상황별 템플릿 모음)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공급사_연락처_리스트.txt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443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배송_현황_대응_가이드.txt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32841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Etsy_정책_요약.txt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7124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스마트스토어_정책_요약.txt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주요 작업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21762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지연 사과 + 추적번호 안내 (영/한)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25603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요청 메시지 (구매 후 7일)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29443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요청 대응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33284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발주 확인 이메일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37124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제안 이메일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2611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커스텀 지시문 (Project Instructions / 채팅 첫줄)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553712"/>
            <a:ext cx="8458200" cy="4983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" y="4553712"/>
            <a:ext cx="8458200" cy="2560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572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system_prompt.txt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4855464"/>
            <a:ext cx="8302752" cy="169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글로벌 이커머스 고객 서비스 전문가입니다. Etsy(영어)와 스마트스토어·쿠팡(한국어) 채널의 CS를 담당합니다.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CS 템플릿과 정책 가이드를 항상 참조하세요.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고객 문의 응답문 작성 (상황별 맞춤)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배송 지연·품절·교환·환불 대응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구매 후 리뷰 요청 메시지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P6 — 리스크 감시자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"/>
            <a:ext cx="1417320" cy="274320"/>
          </a:xfrm>
          <a:prstGeom prst="rect">
            <a:avLst>
              <a:gd name="adj" fmla="val 13333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일반채팅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64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열기: 문제 발생 시만 (비정기) — 미리 열어두지 않는다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역할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88720"/>
            <a:ext cx="8458200" cy="566928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88720"/>
            <a:ext cx="6400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07008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차단, ToS 위반 의심, 법적 리스크 등 돌발 상황 대응. 파일 참조가 필요 없는 즉석 판단 역할이라 일반 채팅으로 충분. 단, 시스템 프롬프트를 매번 붙여넣어야 한다.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지식베이스 업로드 파일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224528" cy="905256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(지식베이스 업로드 불필요)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56032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상황 설명을 채팅에 직접 텍스트로 입력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주요 작업 목록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2139696"/>
            <a:ext cx="4224528" cy="205740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21762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크롤러 403 에러 → 대응 방법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25603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계정 경고 메일 수신 → 리스크 판단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82312" y="29443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브랜드로부터 DMCA 메일 → 대응 순서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33284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계정 IP와 크롤러 IP 겹침 → 긴급 조치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37124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위반 여부 확인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08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커스텀 지시문 (Project Instructions / 채팅 첫줄)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401568"/>
            <a:ext cx="8458200" cy="165049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3401568"/>
            <a:ext cx="8458200" cy="2560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419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system_prompt.txt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" y="3703320"/>
            <a:ext cx="8302752" cy="132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이커머스 크롤링 사업의 리스크 관리 전문가입니다. 법적·기술적·운영적 리스크를 판단하고 즉각 대응 방안을 제시합니다.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채팅은 긴급 상황 대응용입니다. 빠르고 명확하게 답변하세요.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IP 차단 발생 시 즉각 대응 순서 안내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ToS 위반 여부 판단 (아마존·이베이·Etsy)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셀러 계정 경고·정지 리스크 평가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채팅 열 때 — 어디서 열지 5초 결정 흐름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914400"/>
            <a:ext cx="2743200" cy="548640"/>
          </a:xfrm>
          <a:prstGeom prst="rect">
            <a:avLst>
              <a:gd name="adj" fmla="val 10000"/>
            </a:avLst>
          </a:prstGeom>
          <a:solidFill>
            <a:srgbClr val="58A6FF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작업인가?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32004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4813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783080"/>
            <a:ext cx="2743200" cy="548640"/>
          </a:xfrm>
          <a:prstGeom prst="rect">
            <a:avLst>
              <a:gd name="adj" fmla="val 10000"/>
            </a:avLst>
          </a:prstGeom>
          <a:solidFill>
            <a:srgbClr val="30363D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자주 참조하나?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0" cy="32004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35000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1417320" cy="1051560"/>
          </a:xfrm>
          <a:prstGeom prst="rect">
            <a:avLst>
              <a:gd name="adj" fmla="val 5217"/>
            </a:avLst>
          </a:prstGeom>
          <a:solidFill>
            <a:srgbClr val="7C3AED">
              <a:alpha val="2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51760"/>
            <a:ext cx="1417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7432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PM총괄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364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전략·KPI 결정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28700" y="2651760"/>
            <a:ext cx="0" cy="-3200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47088" y="2651760"/>
            <a:ext cx="1417320" cy="1051560"/>
          </a:xfrm>
          <a:prstGeom prst="rect">
            <a:avLst>
              <a:gd name="adj" fmla="val 5217"/>
            </a:avLst>
          </a:prstGeom>
          <a:solidFill>
            <a:srgbClr val="0EA5E9">
              <a:alpha val="2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47088" y="2651760"/>
            <a:ext cx="1417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1847088" y="27432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크롤러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47088" y="3364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작성·수정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55748" y="2651760"/>
            <a:ext cx="0" cy="-32004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4136" y="2651760"/>
            <a:ext cx="1417320" cy="1051560"/>
          </a:xfrm>
          <a:prstGeom prst="rect">
            <a:avLst>
              <a:gd name="adj" fmla="val 5217"/>
            </a:avLst>
          </a:prstGeom>
          <a:solidFill>
            <a:srgbClr val="F59E0B">
              <a:alpha val="2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74136" y="2651760"/>
            <a:ext cx="1417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374136" y="27432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분석가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74136" y="3364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위닝 선별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82796" y="2651760"/>
            <a:ext cx="0" cy="-3200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01184" y="2651760"/>
            <a:ext cx="1417320" cy="1051560"/>
          </a:xfrm>
          <a:prstGeom prst="rect">
            <a:avLst>
              <a:gd name="adj" fmla="val 5217"/>
            </a:avLst>
          </a:prstGeom>
          <a:solidFill>
            <a:srgbClr val="10B981">
              <a:alpha val="2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01184" y="2651760"/>
            <a:ext cx="1417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901184" y="27432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리스팅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01184" y="3364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작성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09844" y="2651760"/>
            <a:ext cx="0" cy="-3200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2651760"/>
            <a:ext cx="1417320" cy="1051560"/>
          </a:xfrm>
          <a:prstGeom prst="rect">
            <a:avLst>
              <a:gd name="adj" fmla="val 5217"/>
            </a:avLst>
          </a:prstGeom>
          <a:solidFill>
            <a:srgbClr val="EF4444">
              <a:alpha val="2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2651760"/>
            <a:ext cx="1417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27432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8232" y="3364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응답 작성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36892" y="2651760"/>
            <a:ext cx="0" cy="-32004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2651760"/>
            <a:ext cx="1417320" cy="1051560"/>
          </a:xfrm>
          <a:prstGeom prst="rect">
            <a:avLst>
              <a:gd name="adj" fmla="val 5217"/>
            </a:avLst>
          </a:prstGeom>
          <a:solidFill>
            <a:srgbClr val="6366F1">
              <a:alpha val="2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955280" y="2651760"/>
            <a:ext cx="14173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27432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리스크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3364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대응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63940" y="2651760"/>
            <a:ext cx="0" cy="-32004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1188720"/>
            <a:ext cx="13716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0241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969264"/>
            <a:ext cx="1554480" cy="457200"/>
          </a:xfrm>
          <a:prstGeom prst="rect">
            <a:avLst>
              <a:gd name="adj" fmla="val 12000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9692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일반 채팅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(지금 이 창처럼)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" y="4041648"/>
            <a:ext cx="8458200" cy="987552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" y="4041648"/>
            <a:ext cx="8458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기억할 규칙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4389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중요 결과는 반드시 파일로 저장 후 지식베이스에 추가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6451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같은 역할이면 항상 같은 프로젝트를 열어라 (새로 만들지 말 것)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4389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P3(분석가)→P4(리스팅) 전달은 텍스트 복사 붙여넣기로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46451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④ 마스터플랜 PPT는 P1에 항상 최신 버전 유지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운영 루틴 — 어떤 프로젝트를 언제 여는가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804672"/>
            <a:ext cx="8458200" cy="6400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804672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1481328" cy="402336"/>
          </a:xfrm>
          <a:prstGeom prst="rect">
            <a:avLst>
              <a:gd name="adj" fmla="val 9091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07:00~07:30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11680" y="91440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59152" y="923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데이터 분석가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59152" y="11704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 루틴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93268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CSV 업로드 → 위닝 상품 TOP5 분석 → 결과 저장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36992" y="950976"/>
            <a:ext cx="841248" cy="347472"/>
          </a:xfrm>
          <a:prstGeom prst="rect">
            <a:avLst>
              <a:gd name="adj" fmla="val 10526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6992" y="950976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508760"/>
            <a:ext cx="8458200" cy="640080"/>
          </a:xfrm>
          <a:prstGeom prst="rect">
            <a:avLst/>
          </a:prstGeom>
          <a:solidFill>
            <a:srgbClr val="30363D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" y="150876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618488"/>
            <a:ext cx="1481328" cy="402336"/>
          </a:xfrm>
          <a:prstGeom prst="rect">
            <a:avLst>
              <a:gd name="adj" fmla="val 9091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61848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07:30~08:30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161848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59152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리스팅 전문가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59152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작업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63677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결과 복붙 → Etsy/스마트스토어 리스팅 작성 → 업로드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36992" y="1655064"/>
            <a:ext cx="841248" cy="347472"/>
          </a:xfrm>
          <a:prstGeom prst="rect">
            <a:avLst>
              <a:gd name="adj" fmla="val 10526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165506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1시간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212848"/>
            <a:ext cx="8458200" cy="6400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2212848"/>
            <a:ext cx="73152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322576"/>
            <a:ext cx="1481328" cy="402336"/>
          </a:xfrm>
          <a:prstGeom prst="rect">
            <a:avLst>
              <a:gd name="adj" fmla="val 9091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322576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수시 (주문 시)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232257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59152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CS·운영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59152" y="2578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처리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2340864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알림 확인 → 발주 → 고객 문의 응답 (5~15분)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36992" y="2359152"/>
            <a:ext cx="841248" cy="347472"/>
          </a:xfrm>
          <a:prstGeom prst="rect">
            <a:avLst>
              <a:gd name="adj" fmla="val 10526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936992" y="2359152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5~15분/건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2916936"/>
            <a:ext cx="8458200" cy="640080"/>
          </a:xfrm>
          <a:prstGeom prst="rect">
            <a:avLst/>
          </a:prstGeom>
          <a:solidFill>
            <a:srgbClr val="30363D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7472" y="2916936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026664"/>
            <a:ext cx="1481328" cy="402336"/>
          </a:xfrm>
          <a:prstGeom prst="rect">
            <a:avLst>
              <a:gd name="adj" fmla="val 9091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026664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월요일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11680" y="302666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359152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PM 총괄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359152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전략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3044952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KPI 리뷰 → 이번주 우선순위 결정 → 각 역할에 지시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36992" y="3063240"/>
            <a:ext cx="841248" cy="347472"/>
          </a:xfrm>
          <a:prstGeom prst="rect">
            <a:avLst>
              <a:gd name="adj" fmla="val 10526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936992" y="306324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1시간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3621024"/>
            <a:ext cx="8458200" cy="64008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47472" y="3621024"/>
            <a:ext cx="73152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3730752"/>
            <a:ext cx="1481328" cy="402336"/>
          </a:xfrm>
          <a:prstGeom prst="rect">
            <a:avLst>
              <a:gd name="adj" fmla="val 9091"/>
            </a:avLst>
          </a:prstGeom>
          <a:solidFill>
            <a:srgbClr val="0EA5E9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73075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필요 시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11680" y="373075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🕷️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359152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크롤러 엔지니어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59152" y="3986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개발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09160" y="374904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소스 추가·에러 수정·성능 개선 (집중 작업)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936992" y="3767328"/>
            <a:ext cx="841248" cy="347472"/>
          </a:xfrm>
          <a:prstGeom prst="rect">
            <a:avLst>
              <a:gd name="adj" fmla="val 10526"/>
            </a:avLst>
          </a:prstGeom>
          <a:solidFill>
            <a:srgbClr val="0EA5E9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936992" y="37673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2~4시간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4325112"/>
            <a:ext cx="8458200" cy="640080"/>
          </a:xfrm>
          <a:prstGeom prst="rect">
            <a:avLst/>
          </a:prstGeom>
          <a:solidFill>
            <a:srgbClr val="30363D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47472" y="4325112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6" name="Shape 54"/>
          <p:cNvSpPr/>
          <p:nvPr/>
        </p:nvSpPr>
        <p:spPr>
          <a:xfrm>
            <a:off x="457200" y="4434840"/>
            <a:ext cx="1481328" cy="402336"/>
          </a:xfrm>
          <a:prstGeom prst="rect">
            <a:avLst>
              <a:gd name="adj" fmla="val 9091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434840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011680" y="443484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2359152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— 리스크 감시자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359152" y="4690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대응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709160" y="44531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채팅 열기 → 시스템 프롬프트 붙여넣기 → 상황 설명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36992" y="4471416"/>
            <a:ext cx="841248" cy="347472"/>
          </a:xfrm>
          <a:prstGeom prst="rect">
            <a:avLst>
              <a:gd name="adj" fmla="val 10526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936992" y="4471416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47472" y="4937760"/>
            <a:ext cx="8458200" cy="182880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94690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일일 운영 시간: 평일 1.5~2.5시간 | 주 1회 전략 1시간 | 크롤러 개발은 스프린트 방식 (필요 시 집중)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채팅·새 세션 시작 — 컨텍스트 복원 가이드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Projects — 자동 복원됨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33856"/>
            <a:ext cx="4251960" cy="301752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1207008"/>
            <a:ext cx="347472" cy="347472"/>
          </a:xfrm>
          <a:prstGeom prst="rect">
            <a:avLst>
              <a:gd name="adj" fmla="val 10526"/>
            </a:avLst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207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225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클릭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사이드바 → Projects → 해당 역할 클릭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" y="1755648"/>
            <a:ext cx="347472" cy="347472"/>
          </a:xfrm>
          <a:prstGeom prst="rect">
            <a:avLst>
              <a:gd name="adj" fmla="val 10526"/>
            </a:avLst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773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채팅 시작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 New Chat' 클릭 — 지시문과 파일은 자동 로드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2304288"/>
            <a:ext cx="347472" cy="347472"/>
          </a:xfrm>
          <a:prstGeom prst="rect">
            <a:avLst>
              <a:gd name="adj" fmla="val 10526"/>
            </a:avLst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322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확인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지식베이스 파일이 최신 버전인지 확인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" y="2852928"/>
            <a:ext cx="347472" cy="347472"/>
          </a:xfrm>
          <a:prstGeom prst="rect">
            <a:avLst>
              <a:gd name="adj" fmla="val 10526"/>
            </a:avLst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871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 참조 요청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'업로드된 마스터플랜 PPT 기준으로...' 로 시작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" y="3401568"/>
            <a:ext cx="347472" cy="347472"/>
          </a:xfrm>
          <a:prstGeom prst="rect">
            <a:avLst>
              <a:gd name="adj" fmla="val 10526"/>
            </a:avLst>
          </a:prstGeom>
          <a:solidFill>
            <a:srgbClr val="58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419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시작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621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역할이 이미 설정되어 있으므로 바로 작업 지시 가능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일반 채팅 — 수동 복원 필요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45152" y="1133856"/>
            <a:ext cx="4251960" cy="3017520"/>
          </a:xfrm>
          <a:prstGeom prst="rect">
            <a:avLst/>
          </a:prstGeom>
          <a:solidFill>
            <a:srgbClr val="30363D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18304" y="1207008"/>
            <a:ext cx="347472" cy="347472"/>
          </a:xfrm>
          <a:prstGeom prst="rect">
            <a:avLst>
              <a:gd name="adj" fmla="val 10526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1207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38928" y="1225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붙여넣기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38928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PPT의 P6 프롬프트 텍스트를 채팅 첫 메시지로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1755648"/>
            <a:ext cx="347472" cy="347472"/>
          </a:xfrm>
          <a:prstGeom prst="rect">
            <a:avLst>
              <a:gd name="adj" fmla="val 10526"/>
            </a:avLst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1773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 요약 제공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'현재 상황: Phase X, 월 주문 N건...' 텍스트로 요약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18304" y="2304288"/>
            <a:ext cx="347472" cy="347472"/>
          </a:xfrm>
          <a:prstGeom prst="rect">
            <a:avLst>
              <a:gd name="adj" fmla="val 10526"/>
            </a:avLst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718304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38928" y="2322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상황 설명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상황을 텍스트로 서술 (파일 없이)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2852928"/>
            <a:ext cx="347472" cy="347472"/>
          </a:xfrm>
          <a:prstGeom prst="rect">
            <a:avLst>
              <a:gd name="adj" fmla="val 10526"/>
            </a:avLst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4718304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38928" y="2871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요청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38928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대응해야 하나?' 로 마무리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18304" y="3401568"/>
            <a:ext cx="347472" cy="347472"/>
          </a:xfrm>
          <a:prstGeom prst="rect">
            <a:avLst>
              <a:gd name="adj" fmla="val 10526"/>
            </a:avLst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4718304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38928" y="3419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저장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38928" y="3621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판단 결과는 복사 → P1 지식베이스에 추가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47472" y="4224528"/>
            <a:ext cx="84582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Shape 47"/>
          <p:cNvSpPr/>
          <p:nvPr/>
        </p:nvSpPr>
        <p:spPr>
          <a:xfrm>
            <a:off x="347472" y="4224528"/>
            <a:ext cx="8458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마스터 복원 명령어 — 어느 프로젝트에서나 새 세션 첫 줄로 사용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7472" y="4535424"/>
            <a:ext cx="8458200" cy="43891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553712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"업로드된 마스터플랜 PPT를 먼저 확인하고, 현재 Phase와 KPI 상황을 요약해줘. 그 다음 [오늘 할 작업]을 진행하자."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2026-02-28T22:23:53Z</dcterms:created>
  <dcterms:modified xsi:type="dcterms:W3CDTF">2026-02-28T22:23:53Z</dcterms:modified>
</cp:coreProperties>
</file>