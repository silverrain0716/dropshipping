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B4D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ARBITRAGE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772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기반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상품 아비트라지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사이트 자동 수집 → 트렌드·차익 상품 감지 → 멀티채널 판매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6858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200400"/>
            <a:ext cx="1600200" cy="347472"/>
          </a:xfrm>
          <a:prstGeom prst="rect">
            <a:avLst>
              <a:gd name="adj" fmla="val 10526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00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🕷️ 직접 크롤링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76272" y="3200400"/>
            <a:ext cx="1600200" cy="347472"/>
          </a:xfrm>
          <a:prstGeom prst="rect">
            <a:avLst>
              <a:gd name="adj" fmla="val 10526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176272" y="3200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트렌드 감지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95344" y="3200400"/>
            <a:ext cx="1600200" cy="347472"/>
          </a:xfrm>
          <a:prstGeom prst="rect">
            <a:avLst>
              <a:gd name="adj" fmla="val 10526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895344" y="3200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가격 아비트라지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14416" y="3200400"/>
            <a:ext cx="1600200" cy="347472"/>
          </a:xfrm>
          <a:prstGeom prst="rect">
            <a:avLst>
              <a:gd name="adj" fmla="val 10526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614416" y="3200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분석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33488" y="3200400"/>
            <a:ext cx="1600200" cy="347472"/>
          </a:xfrm>
          <a:prstGeom prst="rect">
            <a:avLst>
              <a:gd name="adj" fmla="val 10526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33488" y="3200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멀티채널 판매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 + Claude 직접 운영 | 1년 마스터플랜 | 2025 실전 버전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사업이 뭔가 — 1페이지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960120"/>
            <a:ext cx="1627632" cy="2011680"/>
          </a:xfrm>
          <a:prstGeom prst="rect">
            <a:avLst/>
          </a:prstGeom>
          <a:solidFill>
            <a:srgbClr val="1C7293">
              <a:alpha val="25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60120"/>
            <a:ext cx="162763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7840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🕷️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48056" y="146304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수집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" y="1810512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아마존·이베이·틱톡샵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공홈 자동 수집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1691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39696" y="960120"/>
            <a:ext cx="1627632" cy="2011680"/>
          </a:xfrm>
          <a:prstGeom prst="rect">
            <a:avLst/>
          </a:prstGeom>
          <a:solidFill>
            <a:srgbClr val="065A82">
              <a:alpha val="25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39696" y="960120"/>
            <a:ext cx="1627632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2139696" y="97840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03704" y="146304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03704" y="1810512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급등 상품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차익 기회 감지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67328" y="1691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95344" y="960120"/>
            <a:ext cx="1627632" cy="2011680"/>
          </a:xfrm>
          <a:prstGeom prst="rect">
            <a:avLst/>
          </a:prstGeom>
          <a:solidFill>
            <a:srgbClr val="21295C">
              <a:alpha val="25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95344" y="960120"/>
            <a:ext cx="1627632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3895344" y="97840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959352" y="146304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판단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59352" y="1810512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위닝 상품 선별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리스팅 자동 작성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22976" y="1691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50992" y="960120"/>
            <a:ext cx="1627632" cy="2011680"/>
          </a:xfrm>
          <a:prstGeom prst="rect">
            <a:avLst/>
          </a:prstGeom>
          <a:solidFill>
            <a:srgbClr val="1C7293">
              <a:alpha val="25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50992" y="960120"/>
            <a:ext cx="162763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650992" y="97840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15000" y="146304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멀티채널 판매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1810512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Etsy·스마트스토어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동시 판매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78624" y="1691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06640" y="960120"/>
            <a:ext cx="1627632" cy="2011680"/>
          </a:xfrm>
          <a:prstGeom prst="rect">
            <a:avLst/>
          </a:prstGeom>
          <a:solidFill>
            <a:srgbClr val="065A82">
              <a:alpha val="25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06640" y="960120"/>
            <a:ext cx="1627632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97840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70648" y="146304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회수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70648" y="1810512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공급사 결제 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차익 정산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3154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차별점 — 왜 이게 일반 드랍쉬핑과 다른가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84048" y="3520440"/>
            <a:ext cx="2743200" cy="107899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4048" y="3520440"/>
            <a:ext cx="73152" cy="10789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58444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우위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3858768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감이 아닌 실시간 수집 데이터로 위닝 상품 선별 → 경쟁자보다 1~2주 빠른 진입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91840" y="3520440"/>
            <a:ext cx="2743200" cy="107899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91840" y="3520440"/>
            <a:ext cx="73152" cy="10789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3456432" y="358444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파이프라인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56432" y="3858768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크롤링→분석→리스팅까지 Claude와 자동화 → 사람이 판단만 하는 구조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99632" y="3520440"/>
            <a:ext cx="2743200" cy="107899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99632" y="3520440"/>
            <a:ext cx="73152" cy="10789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6364224" y="358444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아비트라지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64224" y="3858768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상품의 채널간 가격 차이를 실시간 감지 → 마진 확보 기회 선점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플랜 구조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356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🕷️ 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타겟 &amp; 수집 전략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63040" y="165506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아마존·이베이·틱톡샵·브랜드공홈 / 수집 데이터 항목 / 기술 스택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822960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947672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5740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 &amp; 위닝 상품 선별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63040" y="227685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감지 알고리즘 / 가격 아비트라지 로직 / Claude 판단 기준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69464"/>
            <a:ext cx="822960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69464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7919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관리 &amp; 법적 대응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63040" y="289864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ToS·IP차단·계정정지 리스크 / 운영 분리 원칙 / 대응 플랜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91256"/>
            <a:ext cx="822960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191256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30098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255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&amp; 마진 구조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63040" y="352044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인프라 비용 / 채널별 수수료 / 손익 시나리오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813048"/>
            <a:ext cx="822960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813048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92277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3877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채널 전략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63040" y="41422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1단계 / 스마트스토어·쿠팡 2단계 / 채널별 운영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822960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434840"/>
            <a:ext cx="64008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54456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63040" y="4498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12개월 액션 플랜 &amp; KPI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463040" y="476402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체크리스트 / 마일스톤 / Claude 운영 루틴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7315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8716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타겟 &amp; 수집 전략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사이트 / 데이터 항목 / 기술 스택 / 운영 분리 원칙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타겟 — 4대 데이터 소스 &amp; 수집 항목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422452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41248"/>
            <a:ext cx="4224528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14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아마존 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55264" y="932688"/>
            <a:ext cx="1234440" cy="256032"/>
          </a:xfrm>
          <a:prstGeom prst="rect">
            <a:avLst>
              <a:gd name="adj" fmla="val 14286"/>
            </a:avLst>
          </a:prstGeom>
          <a:solidFill>
            <a:srgbClr val="EF4444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55264" y="9326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차단 HIGH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335024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베스트셀러 순위 (카테고리별 상위 100)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600200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변동 히스토리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865376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수·평점 추이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130552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Box 경쟁사 가격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395728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신상품 등록 알림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" y="2670048"/>
            <a:ext cx="4078224" cy="0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6151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주기: 1일 2회 | 도구: Playwright + 프록시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82312" y="841248"/>
            <a:ext cx="422452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841248"/>
            <a:ext cx="4224528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914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이베이 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90104" y="932688"/>
            <a:ext cx="1234440" cy="256032"/>
          </a:xfrm>
          <a:prstGeom prst="rect">
            <a:avLst>
              <a:gd name="adj" fmla="val 14286"/>
            </a:avLst>
          </a:prstGeom>
          <a:solidFill>
            <a:srgbClr val="F59E0B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90104" y="9326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차단 MED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73752" y="1335024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완료 리스팅 (실제 거래 데이터)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3752" y="1600200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Count (관심도)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73752" y="1865376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경매 낙찰가 트렌드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3752" y="2130552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최다 판매 상품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73752" y="2395728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리스팅 모니터링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55464" y="2670048"/>
            <a:ext cx="4078224" cy="0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26151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주기: 1일 1회 | 도구: Playwright + 세션 관리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2880360"/>
            <a:ext cx="422452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2880360"/>
            <a:ext cx="4224528" cy="43891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2953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틱톡샵 / SNS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55264" y="2971800"/>
            <a:ext cx="1234440" cy="256032"/>
          </a:xfrm>
          <a:prstGeom prst="rect">
            <a:avLst>
              <a:gd name="adj" fmla="val 14286"/>
            </a:avLst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255264" y="29718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차단 LOW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" y="3374136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#TikTokMadeMeBuyIt 트렌드 상품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" y="3639312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 급등 상품 키워드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" y="3904488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인플루언서 협찬 상품 추적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" y="4169664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틱톡샵 베스트셀러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8912" y="4434840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인스타그램 쇼핑 트렌드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0624" y="4709160"/>
            <a:ext cx="4078224" cy="0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" y="4654296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주기: 1일 3회 | 도구: API + Playwright 혼용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82312" y="2880360"/>
            <a:ext cx="422452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82312" y="2880360"/>
            <a:ext cx="4224528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4873752" y="2953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브랜드 공홈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690104" y="2971800"/>
            <a:ext cx="1234440" cy="256032"/>
          </a:xfrm>
          <a:prstGeom prst="rect">
            <a:avLst>
              <a:gd name="adj" fmla="val 14286"/>
            </a:avLst>
          </a:prstGeom>
          <a:solidFill>
            <a:srgbClr val="10B981">
              <a:alpha val="4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690104" y="29718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차단 LOW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73752" y="3374136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신상품 출시 알림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73752" y="3639312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세일·할인 이벤트 감지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73752" y="3904488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변동 (품절→입고)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73752" y="4169664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인하 감지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73752" y="4434840"/>
            <a:ext cx="40416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미출시 해외 신제품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709160"/>
            <a:ext cx="4078224" cy="0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51" name="Text 49"/>
          <p:cNvSpPr/>
          <p:nvPr/>
        </p:nvSpPr>
        <p:spPr>
          <a:xfrm>
            <a:off x="4873752" y="4654296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주기: 1일 1회 | 도구: requests + BeautifulSoup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&amp; 핵심 운영 원칙 — 계정 분리로 리스크 차단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914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기술 스택 (비용 최소화 버전)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315968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298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9000" y="12984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581912"/>
            <a:ext cx="431596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642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엔진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1664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Playwright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9000" y="16642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002536"/>
            <a:ext cx="4315968" cy="402336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848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로테이션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0848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프록시 리스트 or VPN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29000" y="20848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$0~$10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423160"/>
            <a:ext cx="431596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054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저장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5054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+ Supabase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25054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843784"/>
            <a:ext cx="4315968" cy="402336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260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스케줄링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2926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(cron)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2926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3264408"/>
            <a:ext cx="431596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467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분석·판단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3467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29000" y="33467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3685032"/>
            <a:ext cx="4315968" cy="402336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7673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연결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37673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무료 플랜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29000" y="37673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4105656"/>
            <a:ext cx="431596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1879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20240" y="4187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무료 or 카카오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29000" y="41879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4526280"/>
            <a:ext cx="4315968" cy="3200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5537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월 총 크롤링 인프라: $20 (Claude Pro만 유료, 나머지 무료)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9144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핵심 원칙: 크롤러 ↔ 판매 계정 완전 분리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00600" y="1261872"/>
            <a:ext cx="40690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1261872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4956048" y="1325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분리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56048" y="15544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크롤러는 별도 IP/VPN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계정 로그인 IP와 절대 겹치면 안됨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1920240"/>
            <a:ext cx="4069080" cy="594360"/>
          </a:xfrm>
          <a:prstGeom prst="rect">
            <a:avLst/>
          </a:prstGeom>
          <a:solidFill>
            <a:srgbClr val="E8EFF4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1920240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6" name="Text 44"/>
          <p:cNvSpPr/>
          <p:nvPr/>
        </p:nvSpPr>
        <p:spPr>
          <a:xfrm>
            <a:off x="4956048" y="19842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분리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56048" y="22128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크롤링용 더미 계정 사용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판매자 계정으로 크롤링 금지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00600" y="2578608"/>
            <a:ext cx="40690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00600" y="2578608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4956048" y="26426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제한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56048" y="28712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간격 3~10초 랜덤 딜레이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요청 최대 2개 이하 유지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00600" y="3236976"/>
            <a:ext cx="4069080" cy="594360"/>
          </a:xfrm>
          <a:prstGeom prst="rect">
            <a:avLst/>
          </a:prstGeom>
          <a:solidFill>
            <a:srgbClr val="E8EFF4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00600" y="3236976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4956048" y="33009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956048" y="3529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브라우저 UA 로테이션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감지 우회 설정 필수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00600" y="3895344"/>
            <a:ext cx="40690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800600" y="3895344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4956048" y="39593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보관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956048" y="41879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데이터는 개인 서버/Sheets만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공유·판매 절대 금지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00600" y="4526280"/>
            <a:ext cx="4069080" cy="3200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892040" y="45537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이 원칙 위반 시 판매 계정 정지 = 사업 타격. 타협 없이 지킬 것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7315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8716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 &amp; 위닝 상품 선별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감지 / 가격 아비트라지 로직 / Claude 판단 기준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2가지 수익 모델 — 트렌드 선점 vs 가격 아비트라지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모델 A: 트렌드 선점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61872"/>
            <a:ext cx="59436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61872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3258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틱톡샵 조회수 48시간 내 100만+ 급등 상품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 베스트셀러 순위 48시간 내 200위 이상 상승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066544"/>
            <a:ext cx="4251960" cy="749808"/>
          </a:xfrm>
          <a:prstGeom prst="rect">
            <a:avLst/>
          </a:prstGeom>
          <a:solidFill>
            <a:srgbClr val="E8EFF4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066544"/>
            <a:ext cx="59436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066544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24128" y="2130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3591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상품 키워드 구글 트렌드 상승 확인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Etsy/스마트스토어 동일 상품 공급 희소성 체크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871216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871216"/>
            <a:ext cx="59436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871216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29352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31638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공홈 또는 Faire에서 공급사 즉시 확보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확인 후 드랍쉬핑 계약 또는 Net60 주문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675888"/>
            <a:ext cx="4251960" cy="749808"/>
          </a:xfrm>
          <a:prstGeom prst="rect">
            <a:avLst/>
          </a:prstGeom>
          <a:solidFill>
            <a:srgbClr val="E8EFF4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675888"/>
            <a:ext cx="59436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675888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24128" y="3739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9684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Claude로 리스팅 즉시 작성 → 24시간 내 라이브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피크 전 2주 선점이 핵심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73168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💱 모델 B: 가격 아비트라지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73168" y="120700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상품이 채널마다 가격이 다른 틈새를 실시간으로 잡는 모델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1508760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1508760"/>
            <a:ext cx="406908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158191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브랜드공홈 → 한국 판매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19293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소싱: 브랜드 공홈 $45 (세일)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판매: 스마트스토어 ₩92,000 (~$68)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1920240"/>
            <a:ext cx="1572768" cy="47548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178040" y="192024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+$23 (51%)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73168" y="2587752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73168" y="2587752"/>
            <a:ext cx="406908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266090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이베이 Lot → 개별 판매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64608" y="3008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소싱: 이베이 번들 $30 (3개)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64608" y="32278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판매: Etsy 개당 $22 × 3 = $66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78040" y="2999232"/>
            <a:ext cx="1572768" cy="47548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178040" y="299923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+$36 (120%)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73168" y="3666744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73168" y="3666744"/>
            <a:ext cx="406908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4864608" y="3739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단종 상품 선점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64608" y="40873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소싱: 브랜드 단종 재고 $15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64608" y="4306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판매: 희소성으로 Etsy $55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78040" y="4078224"/>
            <a:ext cx="1572768" cy="47548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178040" y="4078224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+$40 (267%)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위닝 상품 선별 기준 &amp; 자동화 분석 루틴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896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Claude가 판단하는 위닝 상품 기준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45720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1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261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3240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12618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554480"/>
            <a:ext cx="4572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642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점수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00200" y="1664208"/>
            <a:ext cx="1417320" cy="23774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16642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 내 검색량 2배+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63240" y="1664208"/>
            <a:ext cx="1188720" cy="23774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166420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횡보 or 하락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16642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2029968"/>
            <a:ext cx="4572000" cy="457200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1396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00200" y="2139696"/>
            <a:ext cx="1417320" cy="23774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0" name="Text 18"/>
          <p:cNvSpPr/>
          <p:nvPr/>
        </p:nvSpPr>
        <p:spPr>
          <a:xfrm>
            <a:off x="1600200" y="213969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순마진 25% 이상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63240" y="2139696"/>
            <a:ext cx="1188720" cy="23774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2" name="Text 20"/>
          <p:cNvSpPr/>
          <p:nvPr/>
        </p:nvSpPr>
        <p:spPr>
          <a:xfrm>
            <a:off x="3063240" y="213969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미만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21396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2505456"/>
            <a:ext cx="4572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6151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공백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00200" y="2615184"/>
            <a:ext cx="1417320" cy="23774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7" name="Text 25"/>
          <p:cNvSpPr/>
          <p:nvPr/>
        </p:nvSpPr>
        <p:spPr>
          <a:xfrm>
            <a:off x="1600200" y="261518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동일 상품 50개 이하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63240" y="2615184"/>
            <a:ext cx="1188720" cy="23774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3063240" y="261518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500개+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97680" y="261518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2980944"/>
            <a:ext cx="4572000" cy="457200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090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반품율 카테고리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00200" y="3090672"/>
            <a:ext cx="1417320" cy="23774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4" name="Text 32"/>
          <p:cNvSpPr/>
          <p:nvPr/>
        </p:nvSpPr>
        <p:spPr>
          <a:xfrm>
            <a:off x="1600200" y="30906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의류·전자기기 배제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63240" y="3090672"/>
            <a:ext cx="1188720" cy="23774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4"/>
          <p:cNvSpPr/>
          <p:nvPr/>
        </p:nvSpPr>
        <p:spPr>
          <a:xfrm>
            <a:off x="3063240" y="30906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반품율 10%+ 카테고리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97680" y="30906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" y="3456432"/>
            <a:ext cx="4572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566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소싱 가능성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00200" y="3566160"/>
            <a:ext cx="1417320" cy="23774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1" name="Text 39"/>
          <p:cNvSpPr/>
          <p:nvPr/>
        </p:nvSpPr>
        <p:spPr>
          <a:xfrm>
            <a:off x="1600200" y="356616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공급사 확보 48h 이내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063240" y="3566160"/>
            <a:ext cx="1188720" cy="23774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3" name="Text 41"/>
          <p:cNvSpPr/>
          <p:nvPr/>
        </p:nvSpPr>
        <p:spPr>
          <a:xfrm>
            <a:off x="3063240" y="35661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공급사 없음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97680" y="35661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7472" y="3931920"/>
            <a:ext cx="4572000" cy="320040"/>
          </a:xfrm>
          <a:prstGeom prst="rect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9593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총점 70점 이상 → 위닝 상품으로 분류 후 즉시 리스팅 진행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47488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Claude 자동 분석 프롬프트 템플릿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047488" y="1234440"/>
            <a:ext cx="3822192" cy="3035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Shape 47"/>
          <p:cNvSpPr/>
          <p:nvPr/>
        </p:nvSpPr>
        <p:spPr>
          <a:xfrm>
            <a:off x="5047488" y="1234440"/>
            <a:ext cx="3822192" cy="2743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0" name="Text 48"/>
          <p:cNvSpPr/>
          <p:nvPr/>
        </p:nvSpPr>
        <p:spPr>
          <a:xfrm>
            <a:off x="5138928" y="1252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daily_analysis_prompt.txt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20640" y="1554480"/>
            <a:ext cx="3675888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수집된 크롤링 데이터야: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[Google Sheets 데이터 붙여넣기]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기준으로 위닝 상품 TOP5 선별해줘: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트렌드 점수 (48h 검색량 변화율)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마진 계산 (소싱가 역산 후 수수료 제외)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경쟁 공백 (Etsy 동일 상품 수)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반품율 카테고리 해당 여부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공급사 확보 가능성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형식: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상품명 / 점수 / 소싱 추천 루트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Etsy 리스팅 제목·태그 초안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진입 우선순위 (즉시/1주/보류)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47488" y="4315968"/>
            <a:ext cx="3822192" cy="566928"/>
          </a:xfrm>
          <a:prstGeom prst="rect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138928" y="43434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매일 아침 크롤링 완료 후 이 프롬프트 실행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5분 안에 오늘 진입할 상품 결정 완료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7315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8716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관리 &amp; 법적 대응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 위반 / IP차단 / 계정정지 / 단계별 대응 플랜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완전 분석 — 크롤링 사업의 현실적 위협과 대응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84582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50392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50592" y="85039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가능성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54680" y="85039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13632" y="85039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즉각 대응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2200" y="850392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예방 전략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152144"/>
            <a:ext cx="8458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618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 IP 차단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261872"/>
            <a:ext cx="621792" cy="256032"/>
          </a:xfrm>
          <a:prstGeom prst="rect">
            <a:avLst/>
          </a:prstGeom>
          <a:solidFill>
            <a:srgbClr val="EF4444">
              <a:alpha val="2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126187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261872"/>
            <a:ext cx="658368" cy="256032"/>
          </a:xfrm>
          <a:prstGeom prst="rect">
            <a:avLst/>
          </a:prstGeom>
          <a:solidFill>
            <a:srgbClr val="F59E0B">
              <a:alpha val="2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2618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13632" y="1261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프록시 로테이션 즉시 전환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72200" y="12618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딜레이 5~15초 / User-Agent 로테이션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1655064"/>
            <a:ext cx="8458200" cy="475488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7647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계정 연루 정지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50592" y="1764792"/>
            <a:ext cx="621792" cy="256032"/>
          </a:xfrm>
          <a:prstGeom prst="rect">
            <a:avLst/>
          </a:prstGeom>
          <a:solidFill>
            <a:srgbClr val="10B981">
              <a:alpha val="2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450592" y="176479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1764792"/>
            <a:ext cx="658368" cy="256032"/>
          </a:xfrm>
          <a:prstGeom prst="rect">
            <a:avLst/>
          </a:prstGeom>
          <a:solidFill>
            <a:srgbClr val="EF4444">
              <a:alpha val="2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154680" y="17647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13632" y="1764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분리 원칙으로 사전 차단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17647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IP ≠ 판매 계정 IP 절대 원칙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2157984"/>
            <a:ext cx="8458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26771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이베이 계정 차단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50592" y="2267712"/>
            <a:ext cx="621792" cy="256032"/>
          </a:xfrm>
          <a:prstGeom prst="rect">
            <a:avLst/>
          </a:prstGeom>
          <a:solidFill>
            <a:srgbClr val="F59E0B">
              <a:alpha val="2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450592" y="226771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267712"/>
            <a:ext cx="658368" cy="256032"/>
          </a:xfrm>
          <a:prstGeom prst="rect">
            <a:avLst/>
          </a:prstGeom>
          <a:solidFill>
            <a:srgbClr val="10B981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154680" y="226771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13632" y="22677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더미 계정으로 전환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267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계정 3개 이상 준비 / 세션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2660904"/>
            <a:ext cx="8458200" cy="475488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277063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DMCA 경고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50592" y="2770632"/>
            <a:ext cx="621792" cy="256032"/>
          </a:xfrm>
          <a:prstGeom prst="rect">
            <a:avLst/>
          </a:prstGeom>
          <a:solidFill>
            <a:srgbClr val="10B981">
              <a:alpha val="2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450592" y="277063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54680" y="2770632"/>
            <a:ext cx="658368" cy="256032"/>
          </a:xfrm>
          <a:prstGeom prst="rect">
            <a:avLst/>
          </a:prstGeom>
          <a:solidFill>
            <a:srgbClr val="F59E0B">
              <a:alpha val="2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154680" y="27706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13632" y="2770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상품 즉시 리스팅 삭제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27706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파트너 이미지만 사용 / 자체 촬영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7472" y="3163824"/>
            <a:ext cx="8458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27355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위반 법적 리스크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450592" y="3273552"/>
            <a:ext cx="621792" cy="256032"/>
          </a:xfrm>
          <a:prstGeom prst="rect">
            <a:avLst/>
          </a:prstGeom>
          <a:solidFill>
            <a:srgbClr val="10B981">
              <a:alpha val="2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450592" y="327355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154680" y="3273552"/>
            <a:ext cx="658368" cy="256032"/>
          </a:xfrm>
          <a:prstGeom prst="rect">
            <a:avLst/>
          </a:prstGeom>
          <a:solidFill>
            <a:srgbClr val="EF4444">
              <a:alpha val="2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154680" y="3273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913632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법률 자문 후 전략 수정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72200" y="32735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공익·비상업적 데이터만 수집 / 로그 보관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7472" y="3666744"/>
            <a:ext cx="8458200" cy="475488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37764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데이터 품질 저하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450592" y="3776472"/>
            <a:ext cx="621792" cy="256032"/>
          </a:xfrm>
          <a:prstGeom prst="rect">
            <a:avLst/>
          </a:prstGeom>
          <a:solidFill>
            <a:srgbClr val="F59E0B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2450592" y="377647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154680" y="3776472"/>
            <a:ext cx="658368" cy="256032"/>
          </a:xfrm>
          <a:prstGeom prst="rect">
            <a:avLst/>
          </a:prstGeom>
          <a:solidFill>
            <a:srgbClr val="F59E0B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3154680" y="37764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913632" y="3776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코드 즉시 디버깅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172200" y="37764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데이터 검증 자동화 / 이상값 알림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47472" y="4169664"/>
            <a:ext cx="8458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2793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공급사 재고 품절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450592" y="4279392"/>
            <a:ext cx="621792" cy="256032"/>
          </a:xfrm>
          <a:prstGeom prst="rect">
            <a:avLst/>
          </a:prstGeom>
          <a:solidFill>
            <a:srgbClr val="EF4444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450592" y="427939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154680" y="4279392"/>
            <a:ext cx="658368" cy="256032"/>
          </a:xfrm>
          <a:prstGeom prst="rect">
            <a:avLst/>
          </a:prstGeom>
          <a:solidFill>
            <a:srgbClr val="F59E0B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3154680" y="42793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913632" y="4279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 공급사 즉시 발동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172200" y="42793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상품별 공급사 2개 이상 / 재고 모니터링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47472" y="4690872"/>
            <a:ext cx="8458200" cy="347472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4718304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황금 원칙: 크롤러와 판매 계정을 IP·기기·계정 3중으로 분리하면 치명적 리스크는 거의 제거됨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7315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8716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&amp; 마진 구조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인프라 비용 / 채널별 수수료 / 손익 시나리오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비용 구조 &amp; 채널별 마진 — 크롤링 포함 손익 계산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896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월 운영 비용 (안정화 이후)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4315968" cy="301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18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1261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2618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536192"/>
            <a:ext cx="431596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48840" y="15819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6002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분석·리스팅·CS 전담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883664"/>
            <a:ext cx="4315968" cy="329184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47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인프라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48840" y="1929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19476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무료 프록시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231136"/>
            <a:ext cx="431596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(데이터)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48840" y="22768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22951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500MB (초기 충분)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2578608"/>
            <a:ext cx="4315968" cy="329184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42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무료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48840" y="26243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26426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워크플로우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2926080"/>
            <a:ext cx="431596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900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리스팅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48840" y="2971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$0.20/개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29900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후 정산에서 차감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3273552"/>
            <a:ext cx="4315968" cy="329184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337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Spocket Pro (선택)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48840" y="33192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17520" y="33375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공급사 추가 시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3621024"/>
            <a:ext cx="431596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685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VPN/프록시 (선택)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148840" y="36667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$5~$10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17520" y="3685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차단 심화 시 업그레이드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3968496"/>
            <a:ext cx="4315968" cy="32918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8" name="Shape 36"/>
          <p:cNvSpPr/>
          <p:nvPr/>
        </p:nvSpPr>
        <p:spPr>
          <a:xfrm>
            <a:off x="347472" y="3968496"/>
            <a:ext cx="64008" cy="3291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0325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합계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48840" y="40142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017520" y="40325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Pro만 필수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7472" y="4315968"/>
            <a:ext cx="4315968" cy="32918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3" name="Shape 41"/>
          <p:cNvSpPr/>
          <p:nvPr/>
        </p:nvSpPr>
        <p:spPr>
          <a:xfrm>
            <a:off x="347472" y="4315968"/>
            <a:ext cx="64008" cy="3291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3799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 옵션 합계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48840" y="43616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$54~$59/월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017520" y="437997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Spocket+VPN 포함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73168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손익 시나리오 (크롤링 데이터 우위 반영)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773168" y="1234440"/>
            <a:ext cx="1298448" cy="3584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73168" y="1234440"/>
            <a:ext cx="1298448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4828032" y="12527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M1~4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28032" y="1691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$300~$1,200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28032" y="2103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28032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28~35%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28032" y="2606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순이익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8032" y="2788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$84~$420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09744" y="3246120"/>
            <a:ext cx="1225296" cy="1298448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828032" y="3273552"/>
            <a:ext cx="11704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구축 + 첫 위닝 상품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63056" y="1234440"/>
            <a:ext cx="1298448" cy="3584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63056" y="1234440"/>
            <a:ext cx="1298448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0" name="Text 58"/>
          <p:cNvSpPr/>
          <p:nvPr/>
        </p:nvSpPr>
        <p:spPr>
          <a:xfrm>
            <a:off x="6217920" y="12527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M5~8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217920" y="1691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$2,000~$5,000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217920" y="2103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217920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30~38%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17920" y="2606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순이익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217920" y="2788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$600~$1,900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199632" y="3246120"/>
            <a:ext cx="1225296" cy="1298448"/>
          </a:xfrm>
          <a:prstGeom prst="rect">
            <a:avLst/>
          </a:prstGeom>
          <a:solidFill>
            <a:srgbClr val="1C7293">
              <a:alpha val="1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217920" y="3273552"/>
            <a:ext cx="11704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파이프라인 안정화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552944" y="1234440"/>
            <a:ext cx="1298448" cy="3584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552944" y="1234440"/>
            <a:ext cx="1298448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7607808" y="12527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M9~12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7607808" y="1691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$6,000~$15,000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607808" y="2103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607808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32~40%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607808" y="2606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순이익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607808" y="2788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$1,920~$6,000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589520" y="3246120"/>
            <a:ext cx="1225296" cy="129844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7607808" y="3273552"/>
            <a:ext cx="11704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멀티채널 + 자동화 완성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773168" y="4873752"/>
            <a:ext cx="4069080" cy="22860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4864608" y="489204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크롤링 데이터 우위로 일반 드랍쉬핑 대비 마진 5~10%p 추가 확보 가능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7315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8716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채널 전략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1단계 / 스마트스토어·쿠팡 2단계 / 채널별 진입 조건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로드맵 — 데이터 검증 순서대로 단계별 진입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2788920" cy="4224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41248"/>
            <a:ext cx="27889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868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1단계: Etsy 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67712" y="886968"/>
            <a:ext cx="804672" cy="228600"/>
          </a:xfrm>
          <a:prstGeom prst="rect">
            <a:avLst>
              <a:gd name="adj" fmla="val 16000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67712" y="88696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M1~5 | 지금 시작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3192" y="1344168"/>
            <a:ext cx="2697480" cy="475488"/>
          </a:xfrm>
          <a:prstGeom prst="rect">
            <a:avLst/>
          </a:prstGeom>
          <a:solidFill>
            <a:srgbClr val="1C7293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5331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트래픽 자체 보유 / 드랍쉬핑 ToS 허용 / $0 시작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85623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수수료: 6.5% + $0.20/리스팅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3192" y="2103120"/>
            <a:ext cx="2697480" cy="27432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5798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크롤링 데이터 활용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4231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상품 진입 테스트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80720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아비트라지 첫 검증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319125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위닝 상품 3개 확정 목표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3192" y="3657600"/>
            <a:ext cx="2697480" cy="438912"/>
          </a:xfrm>
          <a:prstGeom prst="rect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758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위닝 상품 3개 + 월 주문 30건 달성 → 2단계 진입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841248"/>
            <a:ext cx="2788920" cy="4224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841248"/>
            <a:ext cx="27889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868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2단계: 스마트스토어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886968"/>
            <a:ext cx="804672" cy="228600"/>
          </a:xfrm>
          <a:prstGeom prst="rect">
            <a:avLst>
              <a:gd name="adj" fmla="val 16000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88696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M6~8 | KR 1번타자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1344168"/>
            <a:ext cx="2697480" cy="475488"/>
          </a:xfrm>
          <a:prstGeom prst="rect">
            <a:avLst/>
          </a:prstGeom>
          <a:solidFill>
            <a:srgbClr val="065A82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401568" y="135331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위닝 상품 그대로 이식 / 네이버 쇼핑 SEO / 마진 31%+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01568" y="185623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수수료: 5.85% 수수료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2103120"/>
            <a:ext cx="2697480" cy="27432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28" name="Text 26"/>
          <p:cNvSpPr/>
          <p:nvPr/>
        </p:nvSpPr>
        <p:spPr>
          <a:xfrm>
            <a:off x="3401568" y="215798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크롤링 데이터 활용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24231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데이터 기반 안전 진입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280720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트렌드 크롤링 추가 (네이버 쇼핑 API)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319125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리스팅 Claude 자동 작성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37560" y="3657600"/>
            <a:ext cx="2697480" cy="438912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401568" y="36758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스마트스토어 월 주문 50건 → 쿠팡 진입 검토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36208" y="841248"/>
            <a:ext cx="2788920" cy="4224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841248"/>
            <a:ext cx="2788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868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🟨 2단계: 쿠팡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56448" y="886968"/>
            <a:ext cx="804672" cy="228600"/>
          </a:xfrm>
          <a:prstGeom prst="rect">
            <a:avLst>
              <a:gd name="adj" fmla="val 16000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156448" y="88696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M10~12 | KR 2번타자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81928" y="1344168"/>
            <a:ext cx="2697480" cy="475488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45936" y="135331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최대 트래픽 / 스마트스토어 검증 상품만 투입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45936" y="185623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수수료: 10.8%~ (마진 20%+만)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81928" y="2103120"/>
            <a:ext cx="2697480" cy="27432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43" name="Text 41"/>
          <p:cNvSpPr/>
          <p:nvPr/>
        </p:nvSpPr>
        <p:spPr>
          <a:xfrm>
            <a:off x="6345936" y="215798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크롤링 데이터 활용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27648" y="24231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3개월 데이터 검증 필수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27648" y="280720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아이템위너 방식 (재고 불필요)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27648" y="319125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20% 이상 상품만 선별 투입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81928" y="3657600"/>
            <a:ext cx="2697480" cy="438912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45936" y="36758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3채널 합산 월 $8,000+ 목표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7472" y="5120640"/>
            <a:ext cx="8458200" cy="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5120640"/>
            <a:ext cx="8321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핵심: 크롤링 데이터로 위닝 상품 먼저 Etsy 검증 → 동일 상품 KR 채널 이식. 채널마다 반응이 다를 수 있으니 반드시 단계적 검증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7315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8716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12개월 액션 플랜 &amp; KPI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체크리스트 / 마일스톤 / 주간 Claude 운영 루틴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Month 1~4: 크롤러 구축 &amp; 첫 위닝 상품 (주차별)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896112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96112"/>
            <a:ext cx="425196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601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1~2 — 크롤러 기반 구축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32588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Playwright 환경 세팅 (로컬)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60020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 베스트셀러 크롤러 첫 버전 작성 (Claude와 코딩)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87452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이베이 Sold 리스팅 수집기 작성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14884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데이터 파이프라인 연결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42316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스케줄 크론 설정 (1일 2회)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82312" y="896112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896112"/>
            <a:ext cx="425196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9601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3~4 — 틱톡·브랜드 공홈 추가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32588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틱톡샵 트렌드 수집기 추가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73752" y="160020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공홈 5개 가격 모니터링 세팅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3752" y="187452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로테이션 무료 프록시 연결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3752" y="214884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이상값 알림 (Slack/카카오) 연결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242316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크롤링 데이터로 Claude 위닝 분석 테스트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83464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834640"/>
            <a:ext cx="425196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8986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2~3 — 첫 위닝 상품 선별 &amp; 리스팅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326440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Claude 분석 루틴 정착 (30분/일)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353872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감지 상품 → Etsy 리스팅 5개 첫 업로드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" y="381304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아비트라지 기회 2건 이상 포착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" y="408736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Shop 세팅 완성 (프로필·배너·정책)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" y="436168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판매 발생 후 공급사 발주 프로세스 검증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82312" y="283464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82312" y="2834640"/>
            <a:ext cx="425196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28986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 — 데이터 기반 최적화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73752" y="326440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리스팅 10개 중 위닝 3개 확정 (전환율 기준)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73752" y="353872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안정성 개선 (차단 우회 로직 보강)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73752" y="381304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사업자 등록 신청 (스마트스토어 2단계 대비)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73752" y="408736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주문 30건 달성 → Phase 2 진입 준비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73752" y="436168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판매자 계정 사전 신청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4736592"/>
            <a:ext cx="8458200" cy="347472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64024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Phase 1 KPI: 크롤러 4개 소스 가동 / Etsy 리스팅 10개+ / 월 주문 30건+ / 위닝 상품 3개 확정 / 사업자 등록 완료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2~3 — Month 5~12: 채널 확장 &amp; 완전 자동화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868680"/>
            <a:ext cx="8458200" cy="13075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68680"/>
            <a:ext cx="845820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5~6 | Etsy 스케일업 + 스마트스토어 준비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29844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상품 20개+ 확장 (위닝 패턴 반복)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44568" y="129844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계정 개설 + 해외직구 카테고리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56362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Spocket Pro 전환 → 미국 공급사 추가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44568" y="156362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쇼핑 크롤러 추가 (KR 트렌드 감지)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8288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자동화: 주문→공급사 알림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44568" y="182880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위닝 상품 → 스마트스토어 리스팅 이식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0939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커버리지 확장 (사이트 10개+)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44568" y="209397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Claude로 한국어 제목·태그 최적화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3591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광고 $1/일 테스트 (ROAS 3+ 목표)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44568" y="23591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배대지 연동 테스트 (몰테일 등)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048256"/>
            <a:ext cx="8458200" cy="109728"/>
          </a:xfrm>
          <a:prstGeom prst="rect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057400"/>
            <a:ext cx="8229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Etsy 월 $2,000+ / 스마트스토어 첫 주문 발생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258568"/>
            <a:ext cx="8458200" cy="13075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258568"/>
            <a:ext cx="845820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322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7~9 | 스마트스토어 안정화 + 자동화 고도화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26883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 월 주문 50건+ 달성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44568" y="268833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진입 가능성 데이터 검토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" y="29535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크롤링→분석→리스팅 파이프라인 완전 자동화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44568" y="295351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3개월 스마트스토어 데이터 축적 완료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32186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 $9/월 전환 (자동화 고도화)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44568" y="321868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합산 월 $4,000+ 달성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" y="348386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공급사 3개 이상 다각화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44568" y="348386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업타임 95%+ 유지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" y="37490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KPI 대시보드 Claude 자동 생성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44568" y="37490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자동화율 65%+ 달성 (주 10h 이하)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" y="3438144"/>
            <a:ext cx="8458200" cy="109728"/>
          </a:xfrm>
          <a:prstGeom prst="rect">
            <a:avLst/>
          </a:prstGeom>
          <a:solidFill>
            <a:srgbClr val="065A82">
              <a:alpha val="1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" y="3447288"/>
            <a:ext cx="8229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채널 합산 월 $4,000+ / 자동화 65%+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3648456"/>
            <a:ext cx="8458200" cy="13075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3648456"/>
            <a:ext cx="845820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" y="3712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10~12 | 쿠팡 진입 &amp; 완전 자동화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" y="407822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아이템위너 진입 (마진 20%+ 상품만)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44568" y="407822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월 주문 100건+ 목표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" y="43434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3채널 합산 상품 50개+ 운영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44568" y="434340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3채널 합산 월 $8,000~$15,000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" y="46085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자동화율 80%+ (주 5~7h 운영)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44568" y="460857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순이익 $2,500~$6,000/월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" y="48737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→ AI 판단 → 리스팅까지 1일 자동 완결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44568" y="48737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데이터 자산화 (판매 인사이트 DB)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" y="513892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계획 수립 (브랜드화 or 채널 추가)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44568" y="513892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단계: SaaS 전환 or 파트너 확대 검토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7472" y="4828032"/>
            <a:ext cx="8458200" cy="109728"/>
          </a:xfrm>
          <a:prstGeom prst="rect">
            <a:avLst/>
          </a:prstGeom>
          <a:solidFill>
            <a:srgbClr val="10B981">
              <a:alpha val="1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" y="4837176"/>
            <a:ext cx="8229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3채널 합산 월 $10,000+ / 순이익 $3,000+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대시보드 &amp; 주간 운영 루틴 — 숫자로 판단, 루틴으로 실행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896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12개월 KPI 마일스톤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6510528" cy="301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527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22576" y="12527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73552" y="12527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70248" y="12527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78424" y="12527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536192"/>
            <a:ext cx="6510528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소스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22576" y="16276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73552" y="162763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70248" y="1627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10개+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78424" y="1627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1975104"/>
            <a:ext cx="6510528" cy="420624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66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위닝 상품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22576" y="20665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73552" y="20665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70248" y="2066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20개+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78424" y="2066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50개+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2414016"/>
            <a:ext cx="6510528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월 매출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22576" y="2505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$0~300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73552" y="250545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70248" y="25054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78424" y="25054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$5,000+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2852928"/>
            <a:ext cx="6510528" cy="420624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9443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채널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22576" y="29443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73552" y="29443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70248" y="29443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스마트스토어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78424" y="29443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3채널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" y="3291840"/>
            <a:ext cx="6510528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순이익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22576" y="33832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73552" y="33832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70248" y="3383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$900+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78424" y="3383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$3,000+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" y="3730752"/>
            <a:ext cx="6510528" cy="420624"/>
          </a:xfrm>
          <a:prstGeom prst="rect">
            <a:avLst/>
          </a:prstGeom>
          <a:solidFill>
            <a:srgbClr val="E8EFF4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822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자동화율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322576" y="3822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73552" y="38221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70248" y="38221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78424" y="38221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67728" y="8961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주간 Claude 운영 루틴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67728" y="1234440"/>
            <a:ext cx="1874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67728" y="1234440"/>
            <a:ext cx="187452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0" name="Text 48"/>
          <p:cNvSpPr/>
          <p:nvPr/>
        </p:nvSpPr>
        <p:spPr>
          <a:xfrm>
            <a:off x="7040880" y="127101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아침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40880" y="154533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결과 → Claude 분석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40880" y="171907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위닝 후보 상품 확정 (15분)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67728" y="1984248"/>
            <a:ext cx="1874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67728" y="1984248"/>
            <a:ext cx="187452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5" name="Text 53"/>
          <p:cNvSpPr/>
          <p:nvPr/>
        </p:nvSpPr>
        <p:spPr>
          <a:xfrm>
            <a:off x="7040880" y="2020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월요일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040880" y="229514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위닝 상품 리스팅 작성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040880" y="246888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+ KR 채널 동시 업로드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67728" y="2734056"/>
            <a:ext cx="1874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967728" y="2734056"/>
            <a:ext cx="187452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0" name="Text 58"/>
          <p:cNvSpPr/>
          <p:nvPr/>
        </p:nvSpPr>
        <p:spPr>
          <a:xfrm>
            <a:off x="7040880" y="277063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수요일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40880" y="30449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 통계 분석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40880" y="321868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리스팅 최적화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67728" y="3483864"/>
            <a:ext cx="1874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967728" y="3483864"/>
            <a:ext cx="18745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7040880" y="35204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금요일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040880" y="379476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수익 정산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040880" y="396849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오류 체크 &amp; 수정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67728" y="4233672"/>
            <a:ext cx="1874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967728" y="4233672"/>
            <a:ext cx="1874520" cy="274320"/>
          </a:xfrm>
          <a:prstGeom prst="rect">
            <a:avLst/>
          </a:prstGeom>
          <a:solidFill>
            <a:srgbClr val="7B93A8"/>
          </a:solidFill>
          <a:ln/>
        </p:spPr>
      </p:sp>
      <p:sp>
        <p:nvSpPr>
          <p:cNvPr id="70" name="Text 68"/>
          <p:cNvSpPr/>
          <p:nvPr/>
        </p:nvSpPr>
        <p:spPr>
          <a:xfrm>
            <a:off x="7040880" y="427024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수시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040880" y="454456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발생 → 공급사 즉시 발주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040880" y="471830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처리 (Claude 템플릿)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00B4D8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당장 시작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없이는 이 사업이 없다 — Day 3에 첫 크롤러가 돌아가면 진짜 시작이다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2743200" cy="272491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298448"/>
            <a:ext cx="2743200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258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🕷️ DAY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80136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Playwright 로컬 설치 (Claude가 코드 제공)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 베스트셀러 페이지 크롤러 첫 버전 작성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89864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데이터 연결 테스트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44728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셀러 계정 개설 + Payoneer 연동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19272" y="1298448"/>
            <a:ext cx="2743200" cy="272491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319272" y="1298448"/>
            <a:ext cx="274320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410712" y="13258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DAY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10712" y="180136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이베이 Sold 리스팅 수집기 추가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10712" y="235000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틱톡 트렌드 키워드 수집기 작성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10712" y="289864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수집 데이터로 Claude 위닝 분석 요청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10712" y="344728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스케줄 크론 설정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27064" y="1298448"/>
            <a:ext cx="2743200" cy="272491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7064" y="1298448"/>
            <a:ext cx="274320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318504" y="13258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DAY 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18504" y="180136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데이터 기반 위닝 후보 3개 선별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18504" y="235000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Claude로 Etsy SEO 리스팅 작성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18504" y="289864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Etsy 리스팅 3개 업로드 LIVE 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18504" y="344728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→ Sheets → Slack 알림 자동화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224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 KPI: 크롤러 4개 소스 / Etsy 월 주문 30건+ / 위닝 상품 3개 → Phase 2 (스마트스토어) 진입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→ 분석 → 판매 → 반복. 데이터가 자산이 되는 사업.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2026-02-28T22:00:33Z</dcterms:created>
  <dcterms:modified xsi:type="dcterms:W3CDTF">2026-02-28T22:00:33Z</dcterms:modified>
</cp:coreProperties>
</file>