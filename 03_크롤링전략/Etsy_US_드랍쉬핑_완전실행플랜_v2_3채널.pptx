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B8504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B85042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B85042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02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US → 한국 2단계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드랍쉬핑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완전 실행 플랜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US 안정화 → 스마트스토어 · 쿠팡 확장 | 나 + Claude 직접 운영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291840"/>
            <a:ext cx="640080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3429000"/>
            <a:ext cx="1508760" cy="347472"/>
          </a:xfrm>
          <a:prstGeom prst="rect">
            <a:avLst>
              <a:gd name="adj" fmla="val 13158"/>
            </a:avLst>
          </a:prstGeom>
          <a:solidFill>
            <a:srgbClr val="B85042">
              <a:alpha val="2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4290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초기 $0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30552" y="3429000"/>
            <a:ext cx="1508760" cy="347472"/>
          </a:xfrm>
          <a:prstGeom prst="rect">
            <a:avLst>
              <a:gd name="adj" fmla="val 13158"/>
            </a:avLst>
          </a:prstGeom>
          <a:solidFill>
            <a:srgbClr val="B85042">
              <a:alpha val="2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130552" y="34290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반품율 &lt;5%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58184" y="3429000"/>
            <a:ext cx="1508760" cy="347472"/>
          </a:xfrm>
          <a:prstGeom prst="rect">
            <a:avLst>
              <a:gd name="adj" fmla="val 13158"/>
            </a:avLst>
          </a:prstGeom>
          <a:solidFill>
            <a:srgbClr val="B85042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758184" y="34290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전세계 소싱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85816" y="3429000"/>
            <a:ext cx="1508760" cy="347472"/>
          </a:xfrm>
          <a:prstGeom prst="rect">
            <a:avLst>
              <a:gd name="adj" fmla="val 13158"/>
            </a:avLst>
          </a:prstGeom>
          <a:solidFill>
            <a:srgbClr val="B85042">
              <a:alpha val="2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385816" y="34290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🇺🇸→🇰🇷 2단계 확장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709160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실전 버전 | $0 시작 → 월 $3,000+ (Etsy + KR 채널 합산) 목표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전체 구조 한눈에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8138160" cy="54864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17320"/>
            <a:ext cx="64008" cy="548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4721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Etsy인가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17190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무자본 가능한 이유 / 수수료 구조 / 경쟁 우위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020824"/>
            <a:ext cx="8138160" cy="54864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2020824"/>
            <a:ext cx="64008" cy="548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1226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📦 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20756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반품율 낮은 카테고리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54480" y="232257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미만 카테고리 선별 / 위닝 상품 조건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624328"/>
            <a:ext cx="8138160" cy="54864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2624328"/>
            <a:ext cx="64008" cy="548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1576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🌍 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26791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공급사 소싱 전략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292608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시작 Faire Net60 / 전세계 소싱 루트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227832"/>
            <a:ext cx="8138160" cy="54864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" y="3227832"/>
            <a:ext cx="64008" cy="548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31927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💰 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32826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마진 &amp; 비용 분해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54480" y="35295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항목별 실제 수익 / 손익분기 타임라인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3831336"/>
            <a:ext cx="8138160" cy="54864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3831336"/>
            <a:ext cx="64008" cy="5486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92277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🇰🇷 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54480" y="3886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🇰🇷 2단계: 스마트스토어·쿠팡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554480" y="413308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안정화 후 한국 진입 조건 / 타이밍 / 운영 전략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4434840"/>
            <a:ext cx="8138160" cy="54864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02920" y="4434840"/>
            <a:ext cx="64008" cy="548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5262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📅 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554480" y="44897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 액션 플랜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554480" y="473659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12개월 체크리스트 / KPI / 리스크 관리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B85042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B8504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887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502920" y="2423160"/>
            <a:ext cx="50292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56032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왜 Etsy인가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331012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무자본 시작 / 수수료 구조 / 드랍쉬핑 친화성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채널 전략 — 1단계 Etsy, 2단계 한국 채널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47472" y="914400"/>
            <a:ext cx="2788920" cy="4114800"/>
          </a:xfrm>
          <a:prstGeom prst="rect">
            <a:avLst/>
          </a:prstGeom>
          <a:solidFill>
            <a:srgbClr val="F0F7F4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14400"/>
            <a:ext cx="2788920" cy="475488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941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1단계: Etsy US ✅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496312" y="969264"/>
            <a:ext cx="566928" cy="2286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496312" y="969264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시작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38912" y="1463040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가입비 $0 / 월정액 $0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" y="1828800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수수료 6.5% (판매 후 정산)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912" y="2194560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드랍쉬핑 ToS 공식 허용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912" y="2560320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배송 7~21일 문화적 수용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8912" y="2926080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9,600만 글로벌 트래픽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8912" y="3291840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니치 감성 → 가격 프리미엄 가능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8912" y="3657600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달러 수익 → 환차익 보너스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91840" y="914400"/>
            <a:ext cx="2788920" cy="411480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914400"/>
            <a:ext cx="2788920" cy="475488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941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2단계: 스마트스토어 🇰🇷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40680" y="969264"/>
            <a:ext cx="566928" cy="2286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440680" y="969264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6~8 진입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383280" y="1463040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네이버 쇼핑 자동 노출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83280" y="1828800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수수료 5.85% (Etsy보다 낮음)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83280" y="2194560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해외직구 카테고리 배송 허용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83280" y="2560320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위닝 상품 그대로 검증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83280" y="2926080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CS (우리가 직접 대응)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83280" y="3291840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정산 D+1로 현금흐름 빠름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83280" y="3657600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데이터 기반 안전 진입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36208" y="914400"/>
            <a:ext cx="2788920" cy="411480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36208" y="914400"/>
            <a:ext cx="2788920" cy="475488"/>
          </a:xfrm>
          <a:prstGeom prst="rect">
            <a:avLst/>
          </a:prstGeom>
          <a:solidFill>
            <a:srgbClr val="D47A2A"/>
          </a:solidFill>
          <a:ln/>
        </p:spPr>
      </p:sp>
      <p:sp>
        <p:nvSpPr>
          <p:cNvPr id="31" name="Text 29"/>
          <p:cNvSpPr/>
          <p:nvPr/>
        </p:nvSpPr>
        <p:spPr>
          <a:xfrm>
            <a:off x="6327648" y="941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2단계: 쿠팡 🇰🇷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385048" y="969264"/>
            <a:ext cx="566928" cy="2286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385048" y="969264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9~12 검토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327648" y="1463040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최대 이커머스 트래픽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27648" y="1828800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아이템위너 방식 진입 가능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327648" y="2194560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로켓그로스는 재고 필요 (배제)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27648" y="2560320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마켓: 배송기간 협의 가능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27648" y="2926080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수수료 10.8%~ (스마트스토어보다 높음)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327648" y="3291840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 경쟁 심함 → 위닝 상품만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27648" y="3657600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스마트스토어 데이터 검증 후 진입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47472" y="4892040"/>
            <a:ext cx="8476488" cy="201168"/>
          </a:xfrm>
          <a:prstGeom prst="rect">
            <a:avLst/>
          </a:prstGeom>
          <a:solidFill>
            <a:srgbClr val="B85042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91032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전략: Etsy로 위닝 상품 검증 → 같은 상품 스마트스토어 진입 → 쿠팡은 스마트스토어 데이터 보고 판단. 채널마다 위닝 상품이 다를 수 있음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Etsy 수수료 구조 완전 분해 — $50 상품 실제 수령액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💳 수수료 발생 시점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5880"/>
            <a:ext cx="73152" cy="594360"/>
          </a:xfrm>
          <a:prstGeom prst="rect">
            <a:avLst/>
          </a:prstGeom>
          <a:solidFill>
            <a:srgbClr val="D47A2A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" y="13807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리스팅 등록 시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33472" y="136245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47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$0.20/개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76072" y="16550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4개월 유효, 판매 안 돼도 차감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1984248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984248"/>
            <a:ext cx="73152" cy="5943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" y="20391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 완료 시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33472" y="202082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6.5%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76072" y="23134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판매가 기준 (배송비 포함)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642616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642616"/>
            <a:ext cx="73152" cy="5943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" y="26974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처리 시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33472" y="26791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3%+$0.25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76072" y="29718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Payments 수수료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300984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300984"/>
            <a:ext cx="73152" cy="594360"/>
          </a:xfrm>
          <a:prstGeom prst="rect">
            <a:avLst/>
          </a:prstGeom>
          <a:solidFill>
            <a:srgbClr val="D47A2A"/>
          </a:solidFill>
          <a:ln/>
        </p:spPr>
      </p:sp>
      <p:sp>
        <p:nvSpPr>
          <p:cNvPr id="23" name="Text 21"/>
          <p:cNvSpPr/>
          <p:nvPr/>
        </p:nvSpPr>
        <p:spPr>
          <a:xfrm>
            <a:off x="576072" y="33558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계좌 수령 시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633472" y="33375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47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Payoneer 2%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76072" y="36301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달러→원화 환전 수수료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959352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3959352"/>
            <a:ext cx="73152" cy="59436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28" name="Text 26"/>
          <p:cNvSpPr/>
          <p:nvPr/>
        </p:nvSpPr>
        <p:spPr>
          <a:xfrm>
            <a:off x="576072" y="40142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광고 사용 시 (선택)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633472" y="39959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7B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클릭당 $0.2~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76072" y="42885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초기엔 광고 없이 시작 권장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54880" y="9601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🧮 $50 상품 판매 시 실제 수령액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1325880"/>
            <a:ext cx="41148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13898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판매가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315200" y="138074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+$50.00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754880" y="1709928"/>
            <a:ext cx="4114800" cy="365760"/>
          </a:xfrm>
          <a:prstGeom prst="rect">
            <a:avLst/>
          </a:prstGeom>
          <a:solidFill>
            <a:srgbClr val="F0F0EC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17739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리스팅비 (분할)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315200" y="176479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D47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-$0.20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754880" y="2093976"/>
            <a:ext cx="41148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21579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수수료 6.5%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315200" y="21488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-$3.25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754880" y="2478024"/>
            <a:ext cx="4114800" cy="365760"/>
          </a:xfrm>
          <a:prstGeom prst="rect">
            <a:avLst/>
          </a:prstGeom>
          <a:solidFill>
            <a:srgbClr val="F0F0EC"/>
          </a:solidFill>
          <a:ln/>
        </p:spPr>
      </p:sp>
      <p:sp>
        <p:nvSpPr>
          <p:cNvPr id="42" name="Text 40"/>
          <p:cNvSpPr/>
          <p:nvPr/>
        </p:nvSpPr>
        <p:spPr>
          <a:xfrm>
            <a:off x="4892040" y="25420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수수료 3%+$0.25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315200" y="253288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-$1.75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754880" y="2862072"/>
            <a:ext cx="41148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4892040" y="29260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Payoneer 환전 2%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315200" y="29169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D47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-$0.90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754880" y="3246120"/>
            <a:ext cx="4114800" cy="365760"/>
          </a:xfrm>
          <a:prstGeom prst="rect">
            <a:avLst/>
          </a:prstGeom>
          <a:solidFill>
            <a:srgbClr val="F0F7F4"/>
          </a:solidFill>
          <a:ln/>
        </p:spPr>
      </p:sp>
      <p:sp>
        <p:nvSpPr>
          <p:cNvPr id="48" name="Text 46"/>
          <p:cNvSpPr/>
          <p:nvPr/>
        </p:nvSpPr>
        <p:spPr>
          <a:xfrm>
            <a:off x="4892040" y="33101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 수령액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315200" y="330098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≈$43.90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4754880" y="3630168"/>
            <a:ext cx="41148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4892040" y="36941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소싱가 (Faire Net60)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315200" y="36850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-$20.00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4754880" y="4014216"/>
            <a:ext cx="4114800" cy="365760"/>
          </a:xfrm>
          <a:prstGeom prst="rect">
            <a:avLst/>
          </a:prstGeom>
          <a:solidFill>
            <a:srgbClr val="F0F0EC"/>
          </a:solidFill>
          <a:ln/>
        </p:spPr>
      </p:sp>
      <p:sp>
        <p:nvSpPr>
          <p:cNvPr id="54" name="Text 52"/>
          <p:cNvSpPr/>
          <p:nvPr/>
        </p:nvSpPr>
        <p:spPr>
          <a:xfrm>
            <a:off x="4892040" y="40782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국제 배송비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315200" y="40690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-$8.00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4754880" y="4398264"/>
            <a:ext cx="4114800" cy="365760"/>
          </a:xfrm>
          <a:prstGeom prst="rect">
            <a:avLst/>
          </a:prstGeom>
          <a:solidFill>
            <a:srgbClr val="F0F7F4"/>
          </a:solidFill>
          <a:ln/>
        </p:spPr>
      </p:sp>
      <p:sp>
        <p:nvSpPr>
          <p:cNvPr id="57" name="Shape 55"/>
          <p:cNvSpPr/>
          <p:nvPr/>
        </p:nvSpPr>
        <p:spPr>
          <a:xfrm>
            <a:off x="4754880" y="4398264"/>
            <a:ext cx="64008" cy="36576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58" name="Text 56"/>
          <p:cNvSpPr/>
          <p:nvPr/>
        </p:nvSpPr>
        <p:spPr>
          <a:xfrm>
            <a:off x="4892040" y="44622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순이익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7315200" y="445312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≈$15.90 (31.8%)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4754880" y="4846320"/>
            <a:ext cx="4114800" cy="256032"/>
          </a:xfrm>
          <a:prstGeom prst="rect">
            <a:avLst/>
          </a:prstGeom>
          <a:solidFill>
            <a:srgbClr val="4A7C59">
              <a:alpha val="15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4846320" y="48737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소싱가 $20 이하 + 배송비 $8 이하 → 순마진 30%+ 확보 가능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B85042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B8504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887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502920" y="2423160"/>
            <a:ext cx="50292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56032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반품율 낮은 카테고리 선별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331012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반품율 &lt;5% 카테고리 / 위닝 상품 조건 / 배제 목록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반품율 기준 카테고리 분류 — 팔 것과 절대 안 팔 것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1480" y="932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반품율 1~4% — 타겟 카테고리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1627632" cy="2240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61872"/>
            <a:ext cx="1627632" cy="384048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🕯️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4632" y="167335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캔들 &amp; 홈 디퓨저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" y="205740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소모품 → 교환 거의 없음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" y="2706624"/>
            <a:ext cx="1481328" cy="228600"/>
          </a:xfrm>
          <a:prstGeom prst="rect">
            <a:avLst/>
          </a:prstGeom>
          <a:solidFill>
            <a:srgbClr val="4A7C59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" y="2706624"/>
            <a:ext cx="1481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마진 35~50%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" y="2971800"/>
            <a:ext cx="1481328" cy="201168"/>
          </a:xfrm>
          <a:prstGeom prst="rect">
            <a:avLst/>
          </a:prstGeom>
          <a:solidFill>
            <a:srgbClr val="1A6B3C">
              <a:alpha val="1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" y="2971800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🇰🇷 KR채널 적합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148840" y="1261872"/>
            <a:ext cx="1627632" cy="2240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148840" y="1261872"/>
            <a:ext cx="1627632" cy="384048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7" name="Text 15"/>
          <p:cNvSpPr/>
          <p:nvPr/>
        </p:nvSpPr>
        <p:spPr>
          <a:xfrm>
            <a:off x="2148840" y="1261872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🐾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221992" y="167335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반려동물 소품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221992" y="205740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사이즈 없는 소품 위주 선별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21992" y="2706624"/>
            <a:ext cx="1481328" cy="228600"/>
          </a:xfrm>
          <a:prstGeom prst="rect">
            <a:avLst/>
          </a:prstGeom>
          <a:solidFill>
            <a:srgbClr val="4A7C59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221992" y="2706624"/>
            <a:ext cx="1481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마진 40~55%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21992" y="2971800"/>
            <a:ext cx="1481328" cy="201168"/>
          </a:xfrm>
          <a:prstGeom prst="rect">
            <a:avLst/>
          </a:prstGeom>
          <a:solidFill>
            <a:srgbClr val="1A6B3C">
              <a:alpha val="1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221992" y="2971800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🇰🇷 KR채널 적합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86200" y="1261872"/>
            <a:ext cx="1627632" cy="2240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86200" y="1261872"/>
            <a:ext cx="1627632" cy="384048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26" name="Text 24"/>
          <p:cNvSpPr/>
          <p:nvPr/>
        </p:nvSpPr>
        <p:spPr>
          <a:xfrm>
            <a:off x="3886200" y="1261872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🍳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959352" y="167335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주방 도구·가젯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959352" y="205740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중심 → 불량 아닌 이상 반품 적음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959352" y="2706624"/>
            <a:ext cx="1481328" cy="228600"/>
          </a:xfrm>
          <a:prstGeom prst="rect">
            <a:avLst/>
          </a:prstGeom>
          <a:solidFill>
            <a:srgbClr val="4A7C59">
              <a:alpha val="1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959352" y="2706624"/>
            <a:ext cx="1481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마진 30~45%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959352" y="2971800"/>
            <a:ext cx="1481328" cy="201168"/>
          </a:xfrm>
          <a:prstGeom prst="rect">
            <a:avLst/>
          </a:prstGeom>
          <a:solidFill>
            <a:srgbClr val="1A6B3C">
              <a:alpha val="1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959352" y="2971800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🇰🇷 KR채널 적합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623560" y="1261872"/>
            <a:ext cx="1627632" cy="2240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623560" y="1261872"/>
            <a:ext cx="1627632" cy="384048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5" name="Text 33"/>
          <p:cNvSpPr/>
          <p:nvPr/>
        </p:nvSpPr>
        <p:spPr>
          <a:xfrm>
            <a:off x="5623560" y="1261872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696712" y="167335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미니멀 스테이셔너리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696712" y="205740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저가·소형 → 반품 동기 낮음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696712" y="2706624"/>
            <a:ext cx="1481328" cy="228600"/>
          </a:xfrm>
          <a:prstGeom prst="rect">
            <a:avLst/>
          </a:prstGeom>
          <a:solidFill>
            <a:srgbClr val="4A7C59">
              <a:alpha val="1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696712" y="2706624"/>
            <a:ext cx="1481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마진 45~60%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696712" y="2971800"/>
            <a:ext cx="1481328" cy="201168"/>
          </a:xfrm>
          <a:prstGeom prst="rect">
            <a:avLst/>
          </a:prstGeom>
          <a:solidFill>
            <a:srgbClr val="1A6B3C">
              <a:alpha val="12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696712" y="2971800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🇰🇷 KR채널 적합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360920" y="1261872"/>
            <a:ext cx="1627632" cy="2240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360920" y="1261872"/>
            <a:ext cx="1627632" cy="384048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4" name="Text 42"/>
          <p:cNvSpPr/>
          <p:nvPr/>
        </p:nvSpPr>
        <p:spPr>
          <a:xfrm>
            <a:off x="7360920" y="1261872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🌿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7434072" y="167335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친환경 생활용품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434072" y="205740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에코 구매자 = 반품 덜 함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434072" y="2706624"/>
            <a:ext cx="1481328" cy="228600"/>
          </a:xfrm>
          <a:prstGeom prst="rect">
            <a:avLst/>
          </a:prstGeom>
          <a:solidFill>
            <a:srgbClr val="4A7C59">
              <a:alpha val="1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434072" y="2706624"/>
            <a:ext cx="1481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마진 35~50%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434072" y="2971800"/>
            <a:ext cx="1481328" cy="201168"/>
          </a:xfrm>
          <a:prstGeom prst="rect">
            <a:avLst/>
          </a:prstGeom>
          <a:solidFill>
            <a:srgbClr val="1A6B3C">
              <a:alpha val="12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7434072" y="2971800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🇰🇷 KR채널 적합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11480" y="3291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절대 배제 — 반품율 15~40%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11480" y="3611880"/>
            <a:ext cx="1993392" cy="6583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3" name="Shape 51"/>
          <p:cNvSpPr/>
          <p:nvPr/>
        </p:nvSpPr>
        <p:spPr>
          <a:xfrm>
            <a:off x="411480" y="3611880"/>
            <a:ext cx="64008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4" name="Text 52"/>
          <p:cNvSpPr/>
          <p:nvPr/>
        </p:nvSpPr>
        <p:spPr>
          <a:xfrm>
            <a:off x="548640" y="3657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의류·패션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48640" y="39136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반품율 25~40%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560320" y="3611880"/>
            <a:ext cx="1993392" cy="6583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7" name="Shape 55"/>
          <p:cNvSpPr/>
          <p:nvPr/>
        </p:nvSpPr>
        <p:spPr>
          <a:xfrm>
            <a:off x="2560320" y="3611880"/>
            <a:ext cx="64008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8" name="Text 56"/>
          <p:cNvSpPr/>
          <p:nvPr/>
        </p:nvSpPr>
        <p:spPr>
          <a:xfrm>
            <a:off x="2697480" y="3657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신발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2697480" y="39136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사이즈 미스매치 30%+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09160" y="3611880"/>
            <a:ext cx="1993392" cy="6583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61" name="Shape 59"/>
          <p:cNvSpPr/>
          <p:nvPr/>
        </p:nvSpPr>
        <p:spPr>
          <a:xfrm>
            <a:off x="4709160" y="3611880"/>
            <a:ext cx="64008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2" name="Text 60"/>
          <p:cNvSpPr/>
          <p:nvPr/>
        </p:nvSpPr>
        <p:spPr>
          <a:xfrm>
            <a:off x="4846320" y="3657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전자기기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846320" y="39136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불량·호환 이슈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858000" y="3611880"/>
            <a:ext cx="1993392" cy="6583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65" name="Shape 63"/>
          <p:cNvSpPr/>
          <p:nvPr/>
        </p:nvSpPr>
        <p:spPr>
          <a:xfrm>
            <a:off x="6858000" y="3611880"/>
            <a:ext cx="64008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6" name="Text 64"/>
          <p:cNvSpPr/>
          <p:nvPr/>
        </p:nvSpPr>
        <p:spPr>
          <a:xfrm>
            <a:off x="6995160" y="3657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식품·음료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995160" y="39136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유통기한·통관 리스크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11480" y="440740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위 5개 카테고리는 Etsy 위닝 확인 후 스마트스토어·쿠팡에서도 그대로 재활용 가능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위닝 상품 필터 — Claude와 함께 30개→3개로 좁히기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1480" y="9326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📐 정량 기준 (모두 충족해야 통과)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4251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61872"/>
            <a:ext cx="73152" cy="6400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3167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판매가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00200" y="1335024"/>
            <a:ext cx="1188720" cy="21945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0" name="Text 8"/>
          <p:cNvSpPr/>
          <p:nvPr/>
        </p:nvSpPr>
        <p:spPr>
          <a:xfrm>
            <a:off x="1600200" y="133502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$35~$120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34640" y="1335024"/>
            <a:ext cx="914400" cy="219456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33502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 미만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" y="162763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수수료 흡수 후 순마진 확보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965960"/>
            <a:ext cx="4251960" cy="640080"/>
          </a:xfrm>
          <a:prstGeom prst="rect">
            <a:avLst/>
          </a:prstGeom>
          <a:solidFill>
            <a:srgbClr val="F0F0EC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1965960"/>
            <a:ext cx="73152" cy="6400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0208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소싱가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600200" y="2039112"/>
            <a:ext cx="1188720" cy="21945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8" name="Text 16"/>
          <p:cNvSpPr/>
          <p:nvPr/>
        </p:nvSpPr>
        <p:spPr>
          <a:xfrm>
            <a:off x="1600200" y="203911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판매가의 40% 이하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834640" y="2039112"/>
            <a:ext cx="914400" cy="219456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0" name="Text 18"/>
          <p:cNvSpPr/>
          <p:nvPr/>
        </p:nvSpPr>
        <p:spPr>
          <a:xfrm>
            <a:off x="2834640" y="203911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이상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" y="233172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수수료+배송비 빼고 20%+ 마진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2670048"/>
            <a:ext cx="4251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2670048"/>
            <a:ext cx="73152" cy="6400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무게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600200" y="2743200"/>
            <a:ext cx="1188720" cy="21945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6" name="Text 24"/>
          <p:cNvSpPr/>
          <p:nvPr/>
        </p:nvSpPr>
        <p:spPr>
          <a:xfrm>
            <a:off x="1600200" y="274320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300g 이하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834640" y="2743200"/>
            <a:ext cx="914400" cy="219456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8" name="Text 26"/>
          <p:cNvSpPr/>
          <p:nvPr/>
        </p:nvSpPr>
        <p:spPr>
          <a:xfrm>
            <a:off x="2834640" y="274320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1kg 이상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6928" y="303580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국제 배송 $8~$10 이내 유지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3374136"/>
            <a:ext cx="4251960" cy="640080"/>
          </a:xfrm>
          <a:prstGeom prst="rect">
            <a:avLst/>
          </a:prstGeom>
          <a:solidFill>
            <a:srgbClr val="F0F0EC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" y="3374136"/>
            <a:ext cx="73152" cy="6400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" y="34290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리뷰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600200" y="3447288"/>
            <a:ext cx="1188720" cy="21945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4" name="Text 32"/>
          <p:cNvSpPr/>
          <p:nvPr/>
        </p:nvSpPr>
        <p:spPr>
          <a:xfrm>
            <a:off x="1600200" y="344728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 상품 500개 미만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834640" y="3447288"/>
            <a:ext cx="914400" cy="219456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4"/>
          <p:cNvSpPr/>
          <p:nvPr/>
        </p:nvSpPr>
        <p:spPr>
          <a:xfrm>
            <a:off x="2834640" y="344728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1,000개+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" y="373989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없이 진입 가능 틈새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4078224"/>
            <a:ext cx="4251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11480" y="4078224"/>
            <a:ext cx="73152" cy="6400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0" name="Text 38"/>
          <p:cNvSpPr/>
          <p:nvPr/>
        </p:nvSpPr>
        <p:spPr>
          <a:xfrm>
            <a:off x="566928" y="41330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배송 기간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600200" y="4151376"/>
            <a:ext cx="1188720" cy="21945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42" name="Text 40"/>
          <p:cNvSpPr/>
          <p:nvPr/>
        </p:nvSpPr>
        <p:spPr>
          <a:xfrm>
            <a:off x="1600200" y="415137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공급사→미국 14일 이내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834640" y="4151376"/>
            <a:ext cx="914400" cy="219456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44" name="Text 42"/>
          <p:cNvSpPr/>
          <p:nvPr/>
        </p:nvSpPr>
        <p:spPr>
          <a:xfrm>
            <a:off x="2834640" y="415137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21일 초과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66928" y="444398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별점 리스크 한도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46320" y="9326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🤖 Claude 위닝 상품 분석 프롬프트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846320" y="1261872"/>
            <a:ext cx="4023360" cy="3538728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48" name="Shape 46"/>
          <p:cNvSpPr/>
          <p:nvPr/>
        </p:nvSpPr>
        <p:spPr>
          <a:xfrm>
            <a:off x="4846320" y="1261872"/>
            <a:ext cx="4023360" cy="274320"/>
          </a:xfrm>
          <a:prstGeom prst="rect">
            <a:avLst/>
          </a:prstGeom>
          <a:solidFill>
            <a:srgbClr val="3C3C3C"/>
          </a:solidFill>
          <a:ln/>
        </p:spPr>
      </p:sp>
      <p:sp>
        <p:nvSpPr>
          <p:cNvPr id="49" name="Text 47"/>
          <p:cNvSpPr/>
          <p:nvPr/>
        </p:nvSpPr>
        <p:spPr>
          <a:xfrm>
            <a:off x="4956048" y="12893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Prompt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919472" y="1591056"/>
            <a:ext cx="3886200" cy="3145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아래 Etsy 상품 URL을 분석해줘: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[URL 붙여넣기]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예상 소싱 원가 (판매가 역산)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경쟁 리스팅 수 &amp; 평균 리뷰수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키워드 포화도 (1~10점)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반품율 높은 카테고리 해당 여부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위닝 상품 가능성 점수 (1~10)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Faire/Spocket 대체 공급사 3개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추가: 이 상품이 스마트스토어·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쿠팡 한국 채널에서도 통할지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판단해줘 (검색량·경쟁도 기준)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11480" y="4846320"/>
            <a:ext cx="8412480" cy="228600"/>
          </a:xfrm>
          <a:prstGeom prst="rect">
            <a:avLst/>
          </a:prstGeom>
          <a:solidFill>
            <a:srgbClr val="B85042">
              <a:alpha val="15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4864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루틴: 매주 월요일 Faire 신상품 30개 → Claude 분석 → 3개 이하 선별 → Etsy 리스팅. KR 채널 적합 여부도 동시에 체크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B85042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B8504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887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502920" y="2423160"/>
            <a:ext cx="50292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56032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공급사 소싱 전략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331012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시작 Faire Net60 / 전세계 소싱 루트 / 파트너십 이메일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공급사 소싱 루트 — 무자본 기준 우선순위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47472" y="914400"/>
            <a:ext cx="278892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14400"/>
            <a:ext cx="2788920" cy="475488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9509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1순위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42646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Faire.com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8912" y="177393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60 후불 결제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2048256"/>
            <a:ext cx="2606040" cy="237744"/>
          </a:xfrm>
          <a:prstGeom prst="rect">
            <a:avLst/>
          </a:prstGeom>
          <a:solidFill>
            <a:srgbClr val="4A7C59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20574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받은 후 60일 뒤 결제 → 진짜 무자본 구조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" y="23591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가입 (무료)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70662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드랍쉬핑 허용 + Net60 필터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305409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주문 발생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340156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60일 내 공급사 결제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3192" y="3803904"/>
            <a:ext cx="2697480" cy="301752"/>
          </a:xfrm>
          <a:prstGeom prst="rect">
            <a:avLst/>
          </a:prstGeom>
          <a:solidFill>
            <a:srgbClr val="4A7C59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38130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비용: 가입 무료 / 첫 주문 $100 크레딧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93192" y="4133088"/>
            <a:ext cx="2697480" cy="301752"/>
          </a:xfrm>
          <a:prstGeom prst="rect">
            <a:avLst/>
          </a:prstGeom>
          <a:solidFill>
            <a:srgbClr val="D47A2A">
              <a:alpha val="1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41422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승인 거부 시 직접 이메일 필요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914400"/>
            <a:ext cx="278892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914400"/>
            <a:ext cx="2788920" cy="47548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9509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2순위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142646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브랜드 직접 이메일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383280" y="177393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파트너십 제안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2048256"/>
            <a:ext cx="2606040" cy="237744"/>
          </a:xfrm>
          <a:prstGeom prst="rect">
            <a:avLst/>
          </a:prstGeom>
          <a:solidFill>
            <a:srgbClr val="B85042">
              <a:alpha val="1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20574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마진 최고 / 독점 가능 / 비용 0원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83280" y="23591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Claude로 파트너십 이메일 초안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270662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 Contact 페이지 발송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83280" y="305409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Net30 조건 협상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83280" y="340156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 합의로 시작 가능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37560" y="3803904"/>
            <a:ext cx="2697480" cy="301752"/>
          </a:xfrm>
          <a:prstGeom prst="rect">
            <a:avLst/>
          </a:prstGeom>
          <a:solidFill>
            <a:srgbClr val="4A7C59">
              <a:alpha val="1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383280" y="38130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비용: 완전 무료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37560" y="4133088"/>
            <a:ext cx="2697480" cy="301752"/>
          </a:xfrm>
          <a:prstGeom prst="rect">
            <a:avLst/>
          </a:prstGeom>
          <a:solidFill>
            <a:srgbClr val="D47A2A">
              <a:alpha val="1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383280" y="41422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초기 승인률 5~20%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36208" y="914400"/>
            <a:ext cx="278892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36208" y="914400"/>
            <a:ext cx="2788920" cy="475488"/>
          </a:xfrm>
          <a:prstGeom prst="rect">
            <a:avLst/>
          </a:prstGeom>
          <a:solidFill>
            <a:srgbClr val="D47A2A"/>
          </a:solidFill>
          <a:ln/>
        </p:spPr>
      </p:sp>
      <p:sp>
        <p:nvSpPr>
          <p:cNvPr id="37" name="Text 35"/>
          <p:cNvSpPr/>
          <p:nvPr/>
        </p:nvSpPr>
        <p:spPr>
          <a:xfrm>
            <a:off x="6327648" y="9509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3순위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27648" y="142646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Spocket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27648" y="177393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드랍쉬핑 전용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27648" y="2048256"/>
            <a:ext cx="2606040" cy="237744"/>
          </a:xfrm>
          <a:prstGeom prst="rect">
            <a:avLst/>
          </a:prstGeom>
          <a:solidFill>
            <a:srgbClr val="D47A2A">
              <a:alpha val="12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327648" y="20574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미국·EU 공급사 / Etsy 연동 / 빠른 배송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27648" y="23591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플랜으로 공급사 탐색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27648" y="270662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위닝 확정 후 Pro $24/월 전환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27648" y="305409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자동 주문 연동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27648" y="340156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 내 공급사 5~7일 배송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81928" y="3803904"/>
            <a:ext cx="2697480" cy="301752"/>
          </a:xfrm>
          <a:prstGeom prst="rect">
            <a:avLst/>
          </a:prstGeom>
          <a:solidFill>
            <a:srgbClr val="4A7C59">
              <a:alpha val="12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327648" y="38130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비용: 탐색 무료 / 실주문은 Pro 필요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281928" y="4133088"/>
            <a:ext cx="2697480" cy="301752"/>
          </a:xfrm>
          <a:prstGeom prst="rect">
            <a:avLst/>
          </a:prstGeom>
          <a:solidFill>
            <a:srgbClr val="D47A2A">
              <a:alpha val="12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327648" y="41422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 $24/월 / 커버리지 제한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Faire Net60 무자본 구조 &amp; 파트너십 이메일 (Claude 초안)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1480" y="9326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💰 Faire Net60 — 무자본의 핵심 메커니즘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41605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280160"/>
            <a:ext cx="73152" cy="566928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3350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335024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고객 주문 &amp; 결제 수령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901952"/>
            <a:ext cx="4160520" cy="566928"/>
          </a:xfrm>
          <a:prstGeom prst="rect">
            <a:avLst/>
          </a:prstGeom>
          <a:solidFill>
            <a:srgbClr val="F0F0EC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1901952"/>
            <a:ext cx="73152" cy="56692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9568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08760" y="195681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Faire에 공급사 주문 (아직 무료)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523744"/>
            <a:ext cx="41605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2523744"/>
            <a:ext cx="73152" cy="56692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5786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3~7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08760" y="257860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공급사→고객 직배송 발송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3145536"/>
            <a:ext cx="4160520" cy="566928"/>
          </a:xfrm>
          <a:prstGeom prst="rect">
            <a:avLst/>
          </a:prstGeom>
          <a:solidFill>
            <a:srgbClr val="F0F0EC"/>
          </a:solidFill>
          <a:ln/>
        </p:spPr>
      </p:sp>
      <p:sp>
        <p:nvSpPr>
          <p:cNvPr id="19" name="Shape 17"/>
          <p:cNvSpPr/>
          <p:nvPr/>
        </p:nvSpPr>
        <p:spPr>
          <a:xfrm>
            <a:off x="411480" y="3145536"/>
            <a:ext cx="73152" cy="566928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2004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08760" y="320040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정산 내 계좌로 입금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3767328"/>
            <a:ext cx="41605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11480" y="3767328"/>
            <a:ext cx="73152" cy="566928"/>
          </a:xfrm>
          <a:prstGeom prst="rect">
            <a:avLst/>
          </a:prstGeom>
          <a:solidFill>
            <a:srgbClr val="D47A2A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38221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7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08760" y="382219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공급사에 대금 결제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1480" y="4407408"/>
            <a:ext cx="4160520" cy="384048"/>
          </a:xfrm>
          <a:prstGeom prst="rect">
            <a:avLst/>
          </a:prstGeom>
          <a:solidFill>
            <a:srgbClr val="4A7C59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43484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고객 돈으로 공급사 결제 → 내 돈 0원!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9326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📧 파트너십 이메일 템플릿 (Claude 생성)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1261872"/>
            <a:ext cx="4069080" cy="361188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0" name="Shape 28"/>
          <p:cNvSpPr/>
          <p:nvPr/>
        </p:nvSpPr>
        <p:spPr>
          <a:xfrm>
            <a:off x="4800600" y="1261872"/>
            <a:ext cx="4069080" cy="256032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31" name="Text 29"/>
          <p:cNvSpPr/>
          <p:nvPr/>
        </p:nvSpPr>
        <p:spPr>
          <a:xfrm>
            <a:off x="4910328" y="12801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Draft (Claude 작성)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73752" y="1572768"/>
            <a:ext cx="39319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Dropship Partnership Inquiry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[Name],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run an Etsy store focused 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[category] for US customers.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love to explore a dropship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fulfill orders directly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 handle all marketing &amp; CS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 30/60 payment terms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20~50 orders/month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3 months.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also expanding to Korean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(Naver SmartStore,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Coupang) — great opportunity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Asian market exposure.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a quick call?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Best, [Your Name]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B85042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B8504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887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502920" y="2423160"/>
            <a:ext cx="50292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56032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마진 &amp; 비용 완전 분해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331012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시작 손익분기 타임라인 / 채널별 수익 비교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3가지 손익 시나리오 — 채널 확장 포함 ($0 시작 기준)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47472" y="914400"/>
            <a:ext cx="2788920" cy="4133088"/>
          </a:xfrm>
          <a:prstGeom prst="rect">
            <a:avLst/>
          </a:prstGeom>
          <a:solidFill>
            <a:srgbClr val="FDF5F3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14400"/>
            <a:ext cx="2788920" cy="47548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9418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21615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1~5 | Etsy 단독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8912" y="146304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$0~$1,500/월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93192" y="1920240"/>
            <a:ext cx="2697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933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주문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56232" y="19751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5~60건/월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93192" y="2304288"/>
            <a:ext cx="2697480" cy="36576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3774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순마진율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56232" y="23591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25~32%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93192" y="2688336"/>
            <a:ext cx="2697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614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순이익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856232" y="2743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$0~$480/월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3192" y="3072384"/>
            <a:ext cx="2697480" cy="36576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1455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고정비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856232" y="31272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$20/월 (Claude만)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93192" y="3456432"/>
            <a:ext cx="2697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5295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손익분기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856232" y="35112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4~5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93192" y="3877056"/>
            <a:ext cx="2697480" cy="594360"/>
          </a:xfrm>
          <a:prstGeom prst="rect">
            <a:avLst/>
          </a:prstGeom>
          <a:solidFill>
            <a:srgbClr val="B85042">
              <a:alpha val="1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90448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US 위닝 상품 확정 단계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채널 진입 전 검증 완료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91840" y="914400"/>
            <a:ext cx="2788920" cy="4133088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91840" y="914400"/>
            <a:ext cx="2788920" cy="475488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9418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383280" y="121615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6~9 | Etsy+스마트스토어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83280" y="146304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$2,000~$4,500/월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3337560" y="1920240"/>
            <a:ext cx="2697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3401568" y="19933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주문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00600" y="19751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100~200건/월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37560" y="2304288"/>
            <a:ext cx="2697480" cy="36576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36" name="Text 34"/>
          <p:cNvSpPr/>
          <p:nvPr/>
        </p:nvSpPr>
        <p:spPr>
          <a:xfrm>
            <a:off x="3401568" y="23774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순마진율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00600" y="23591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27~33%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337560" y="2688336"/>
            <a:ext cx="2697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3401568" y="27614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순이익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00600" y="2743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$540~$1,485/월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337560" y="3072384"/>
            <a:ext cx="2697480" cy="36576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42" name="Text 40"/>
          <p:cNvSpPr/>
          <p:nvPr/>
        </p:nvSpPr>
        <p:spPr>
          <a:xfrm>
            <a:off x="3401568" y="31455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고정비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00600" y="31272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~$70/월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337560" y="3456432"/>
            <a:ext cx="2697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3401568" y="35295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손익분기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800600" y="35112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달성 완료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337560" y="3877056"/>
            <a:ext cx="2697480" cy="594360"/>
          </a:xfrm>
          <a:prstGeom prst="rect">
            <a:avLst/>
          </a:prstGeom>
          <a:solidFill>
            <a:srgbClr val="1A6B3C">
              <a:alpha val="12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3401568" y="390448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위닝 상품 → 스마트스토어 동시 운영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 다각화로 리스크 분산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36208" y="914400"/>
            <a:ext cx="2788920" cy="4133088"/>
          </a:xfrm>
          <a:prstGeom prst="rect">
            <a:avLst/>
          </a:prstGeom>
          <a:solidFill>
            <a:srgbClr val="F0F7F4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236208" y="914400"/>
            <a:ext cx="2788920" cy="475488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51" name="Text 49"/>
          <p:cNvSpPr/>
          <p:nvPr/>
        </p:nvSpPr>
        <p:spPr>
          <a:xfrm>
            <a:off x="6327648" y="9418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327648" y="121615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10~12 | 3채널 풀가동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327648" y="146304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$5,000~$10,000/월</a:t>
            </a:r>
            <a:endParaRPr lang="en-US" sz="1700" dirty="0"/>
          </a:p>
        </p:txBody>
      </p:sp>
      <p:sp>
        <p:nvSpPr>
          <p:cNvPr id="54" name="Shape 52"/>
          <p:cNvSpPr/>
          <p:nvPr/>
        </p:nvSpPr>
        <p:spPr>
          <a:xfrm>
            <a:off x="6281928" y="1920240"/>
            <a:ext cx="2697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6345936" y="19933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주문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744968" y="19751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300~500건/월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281928" y="2304288"/>
            <a:ext cx="2697480" cy="36576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58" name="Text 56"/>
          <p:cNvSpPr/>
          <p:nvPr/>
        </p:nvSpPr>
        <p:spPr>
          <a:xfrm>
            <a:off x="6345936" y="23774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순마진율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744968" y="23591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28~35%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281928" y="2688336"/>
            <a:ext cx="2697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6345936" y="27614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순이익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744968" y="2743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$1,400~$3,500/월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281928" y="3072384"/>
            <a:ext cx="2697480" cy="36576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64" name="Text 62"/>
          <p:cNvSpPr/>
          <p:nvPr/>
        </p:nvSpPr>
        <p:spPr>
          <a:xfrm>
            <a:off x="6345936" y="31455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고정비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7744968" y="31272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~$100/월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281928" y="3456432"/>
            <a:ext cx="2697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6345936" y="35295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손익분기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7744968" y="35112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달성 완료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6281928" y="3877056"/>
            <a:ext cx="2697480" cy="594360"/>
          </a:xfrm>
          <a:prstGeom prst="rect">
            <a:avLst/>
          </a:prstGeom>
          <a:solidFill>
            <a:srgbClr val="4A7C59">
              <a:alpha val="12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6345936" y="390448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+ 스마트스토어 + 쿠팡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 70%+ / 월 순이익 $1,500+ 목표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 시작 비용 &amp; 채널 확장 시 추가 비용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🚀 Phase 1 — $0 시작 (Etsy 단독)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4251960" cy="292608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2710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34640" y="12710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527048"/>
            <a:ext cx="42519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6002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Individual 계정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15819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94760" y="16002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리스팅당 $0.20 판매 후 차감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1911096"/>
            <a:ext cx="4251960" cy="365760"/>
          </a:xfrm>
          <a:prstGeom prst="rect">
            <a:avLst/>
          </a:prstGeom>
          <a:solidFill>
            <a:srgbClr val="F0F0EC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9842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가입 &amp; Net60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1965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94760" y="198424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주문 $100 크레딧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2295144"/>
            <a:ext cx="42519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36829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무료 플랜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2350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94760" y="23682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목업 이미지 제작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2679192"/>
            <a:ext cx="4251960" cy="365760"/>
          </a:xfrm>
          <a:prstGeom prst="rect">
            <a:avLst/>
          </a:prstGeom>
          <a:solidFill>
            <a:srgbClr val="F0F0EC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27523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무료 플랜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34640" y="27340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94760" y="27523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1,000 operation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1480" y="3063240"/>
            <a:ext cx="42519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" y="31363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34640" y="3118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94760" y="31363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마진 계산·주문 트래킹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480" y="3447288"/>
            <a:ext cx="4251960" cy="365760"/>
          </a:xfrm>
          <a:prstGeom prst="rect">
            <a:avLst/>
          </a:prstGeom>
          <a:solidFill>
            <a:srgbClr val="F0F0EC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" y="35204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Payoneer 계정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34640" y="35021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94760" y="352044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달러 수령 (환전 시 수수료)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11480" y="3831336"/>
            <a:ext cx="4251960" cy="3657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" y="39044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 (유일 지출)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834640" y="38862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$20/월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94760" y="390448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리스팅·CS·분석 전담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11480" y="4215384"/>
            <a:ext cx="4251960" cy="3657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8" name="Shape 36"/>
          <p:cNvSpPr/>
          <p:nvPr/>
        </p:nvSpPr>
        <p:spPr>
          <a:xfrm>
            <a:off x="411480" y="4215384"/>
            <a:ext cx="64008" cy="36576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9" name="Text 37"/>
          <p:cNvSpPr/>
          <p:nvPr/>
        </p:nvSpPr>
        <p:spPr>
          <a:xfrm>
            <a:off x="530352" y="428853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합계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834640" y="42702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$20/월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794760" y="428853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나머지 전부 무료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0060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🇰🇷 2단계 추가 비용 — 한국 채널 진입 시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800600" y="1234440"/>
            <a:ext cx="4114800" cy="292608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44" name="Text 42"/>
          <p:cNvSpPr/>
          <p:nvPr/>
        </p:nvSpPr>
        <p:spPr>
          <a:xfrm>
            <a:off x="4919472" y="12710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059168" y="12710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00600" y="1527048"/>
            <a:ext cx="41148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4919472" y="16002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스마트스토어 계정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059168" y="15819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무료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119872" y="1618488"/>
            <a:ext cx="731520" cy="201168"/>
          </a:xfrm>
          <a:prstGeom prst="rect">
            <a:avLst/>
          </a:prstGeom>
          <a:solidFill>
            <a:srgbClr val="1A6B3C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8119872" y="16184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스마트스토어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800600" y="1911096"/>
            <a:ext cx="4114800" cy="365760"/>
          </a:xfrm>
          <a:prstGeom prst="rect">
            <a:avLst/>
          </a:prstGeom>
          <a:solidFill>
            <a:srgbClr val="F0F0EC"/>
          </a:solidFill>
          <a:ln/>
        </p:spPr>
      </p:sp>
      <p:sp>
        <p:nvSpPr>
          <p:cNvPr id="52" name="Text 50"/>
          <p:cNvSpPr/>
          <p:nvPr/>
        </p:nvSpPr>
        <p:spPr>
          <a:xfrm>
            <a:off x="4919472" y="19842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사업자등록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059168" y="19659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무료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119872" y="2002536"/>
            <a:ext cx="731520" cy="201168"/>
          </a:xfrm>
          <a:prstGeom prst="rect">
            <a:avLst/>
          </a:prstGeom>
          <a:solidFill>
            <a:srgbClr val="1A6B3C">
              <a:alpha val="2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8119872" y="200253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스마트스토어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800600" y="2295144"/>
            <a:ext cx="41148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4919472" y="23682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배대지 계정 (배송용)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059168" y="2350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건당 과금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119872" y="2386584"/>
            <a:ext cx="731520" cy="201168"/>
          </a:xfrm>
          <a:prstGeom prst="rect">
            <a:avLst/>
          </a:prstGeom>
          <a:solidFill>
            <a:srgbClr val="1A6B3C">
              <a:alpha val="2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8119872" y="238658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스마트스토어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800600" y="2679192"/>
            <a:ext cx="4114800" cy="365760"/>
          </a:xfrm>
          <a:prstGeom prst="rect">
            <a:avLst/>
          </a:prstGeom>
          <a:solidFill>
            <a:srgbClr val="F0F0EC"/>
          </a:solidFill>
          <a:ln/>
        </p:spPr>
      </p:sp>
      <p:sp>
        <p:nvSpPr>
          <p:cNvPr id="62" name="Text 60"/>
          <p:cNvSpPr/>
          <p:nvPr/>
        </p:nvSpPr>
        <p:spPr>
          <a:xfrm>
            <a:off x="4919472" y="27523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Spocket Pro (선택)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059168" y="27340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$24/월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119872" y="2770632"/>
            <a:ext cx="731520" cy="201168"/>
          </a:xfrm>
          <a:prstGeom prst="rect">
            <a:avLst/>
          </a:prstGeom>
          <a:solidFill>
            <a:srgbClr val="8A9BA8">
              <a:alpha val="2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8119872" y="277063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800600" y="3063240"/>
            <a:ext cx="41148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4919472" y="313639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Basic (자동화)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059168" y="31181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$9/월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119872" y="3154680"/>
            <a:ext cx="731520" cy="201168"/>
          </a:xfrm>
          <a:prstGeom prst="rect">
            <a:avLst/>
          </a:prstGeom>
          <a:solidFill>
            <a:srgbClr val="8A9BA8">
              <a:alpha val="20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8119872" y="31546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4800600" y="3447288"/>
            <a:ext cx="4114800" cy="365760"/>
          </a:xfrm>
          <a:prstGeom prst="rect">
            <a:avLst/>
          </a:prstGeom>
          <a:solidFill>
            <a:srgbClr val="F0F0EC"/>
          </a:solidFill>
          <a:ln/>
        </p:spPr>
      </p:sp>
      <p:sp>
        <p:nvSpPr>
          <p:cNvPr id="72" name="Text 70"/>
          <p:cNvSpPr/>
          <p:nvPr/>
        </p:nvSpPr>
        <p:spPr>
          <a:xfrm>
            <a:off x="4919472" y="352044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쿠팡 판매자 계정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7059168" y="35021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무료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8119872" y="3538728"/>
            <a:ext cx="731520" cy="201168"/>
          </a:xfrm>
          <a:prstGeom prst="rect">
            <a:avLst/>
          </a:prstGeom>
          <a:solidFill>
            <a:srgbClr val="D47A2A">
              <a:alpha val="20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8119872" y="353872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쿠팡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800600" y="3831336"/>
            <a:ext cx="4114800" cy="3657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7" name="Shape 75"/>
          <p:cNvSpPr/>
          <p:nvPr/>
        </p:nvSpPr>
        <p:spPr>
          <a:xfrm>
            <a:off x="4800600" y="3831336"/>
            <a:ext cx="64008" cy="36576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78" name="Text 76"/>
          <p:cNvSpPr/>
          <p:nvPr/>
        </p:nvSpPr>
        <p:spPr>
          <a:xfrm>
            <a:off x="4919472" y="390448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비용 합계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7059168" y="38862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$33~$53/월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B85042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B8504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887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502920" y="2423160"/>
            <a:ext cx="50292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56032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2단계: 스마트스토어 · 쿠팡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331012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안정화 후 한국 채널 진입 조건 / 타이밍 / 운영 전략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2단계 한국 채널 — 진입 조건 &amp; 채널별 전략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2단계 진입 전에 Etsy에서 반드시 달성해야 할 것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4114800" cy="59436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61872"/>
            <a:ext cx="64008" cy="59436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167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Etsy 월 주문 30건 이상 3개월 연속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59105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위닝 상품 검증 완료 기준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261872"/>
            <a:ext cx="4114800" cy="59436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261872"/>
            <a:ext cx="64008" cy="59436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3167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위닝 상품 3개 이상 확정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59105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KR 채널에서 재검증 없이 투입 가능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1920240"/>
            <a:ext cx="4114800" cy="59436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1920240"/>
            <a:ext cx="64008" cy="59436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19751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Etsy 리뷰 20개+ &amp; Star Seller 달성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24942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공급사 신뢰도·배송 안정성 검증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1920240"/>
            <a:ext cx="4114800" cy="59436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920240"/>
            <a:ext cx="64008" cy="59436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9751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사업자 등록 완료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24942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스마트스토어·쿠팡 판매자 계정 필수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2633472"/>
            <a:ext cx="41605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2633472"/>
            <a:ext cx="4160520" cy="41148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26609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🛒 스마트스토어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154680" y="2679192"/>
            <a:ext cx="1325880" cy="237744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154680" y="267919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6~8 진입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2920" y="3090672"/>
            <a:ext cx="40050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해외직구 카테고리 선택 → 배송 14~21일 명시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3419856"/>
            <a:ext cx="40050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네이버 쇼핑 SEO: Claude로 한국어 제목·태그 최적화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3749040"/>
            <a:ext cx="40050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위닝 상품 3개 그대로 가격 1.3~1.5배 적용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4078224"/>
            <a:ext cx="40050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배대지(몰테일 등) 계정 연동 → 미국 공급사→한국 배송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4407408"/>
            <a:ext cx="40050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정산 D+1 → 공급사 Net60 결제 완벽 무자본 구조 유지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4736592"/>
            <a:ext cx="40050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목표: 월 주문 50건+ / 순마진 25%+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2633472"/>
            <a:ext cx="41605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2633472"/>
            <a:ext cx="4160520" cy="411480"/>
          </a:xfrm>
          <a:prstGeom prst="rect">
            <a:avLst/>
          </a:prstGeom>
          <a:solidFill>
            <a:srgbClr val="D47A2A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26609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🛍️ 쿠팡 (아이템위너)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543800" y="2679192"/>
            <a:ext cx="1325880" cy="237744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543800" y="267919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10~12 진입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92040" y="3090672"/>
            <a:ext cx="40050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스마트스토어 3개월 데이터 본 후 결정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92040" y="3419856"/>
            <a:ext cx="40050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로켓그로스 ❌ — 아이템위너 방식만 (재고 불필요)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2040" y="3749040"/>
            <a:ext cx="40050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쿠팡에서 동일 상품 검색 → 위닝 가격 분석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92040" y="4078224"/>
            <a:ext cx="40050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스마트스토어보다 10~15% 낮은 가격으로 진입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92040" y="4407408"/>
            <a:ext cx="40050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배송 기간 표기: 15~20일 (로켓배송과 다른 탭 분리)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92040" y="4736592"/>
            <a:ext cx="40050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목표: 월 주문 100건+ / 채널 3개 합산 월 $5,000+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채널별 마진 비교 — 같은 상품 $50, 3채널 수익 차이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47472" y="822960"/>
            <a:ext cx="8476488" cy="36576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31720" y="868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43400" y="868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스마트스토어 KR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868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쿠팡 KR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1188720"/>
            <a:ext cx="8476488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판매가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31720" y="1280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$50.00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43400" y="1280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₩68,000 (~$50)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₩62,000 (~$46)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1664208"/>
            <a:ext cx="8476488" cy="457200"/>
          </a:xfrm>
          <a:prstGeom prst="rect">
            <a:avLst/>
          </a:prstGeom>
          <a:solidFill>
            <a:srgbClr val="F0F0E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755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수수료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331720" y="1755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6.5% = -$3.25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43400" y="1755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5.85% = -₩3,978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92240" y="1755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10.8% = -₩6,696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7472" y="2139696"/>
            <a:ext cx="8476488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2311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수수료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31720" y="22311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3%+$0.25 = -$1.75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43400" y="22311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-₩800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92240" y="22311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-₩500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7472" y="2615184"/>
            <a:ext cx="8476488" cy="457200"/>
          </a:xfrm>
          <a:prstGeom prst="rect">
            <a:avLst/>
          </a:prstGeom>
          <a:solidFill>
            <a:srgbClr val="F0F0EC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7066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배송비 (소싱→고객)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331720" y="27066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-$8.00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343400" y="27066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-₩15,000 (배대지)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92240" y="27066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-₩15,000 (배대지)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7472" y="3090672"/>
            <a:ext cx="8476488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182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소싱가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331720" y="31821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-$20.00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343400" y="3182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-₩27,000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92240" y="3182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-₩27,000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47472" y="3566160"/>
            <a:ext cx="8476488" cy="457200"/>
          </a:xfrm>
          <a:prstGeom prst="rect">
            <a:avLst/>
          </a:prstGeom>
          <a:solidFill>
            <a:srgbClr val="F0F0EC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환전·기타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331720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-$0.90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343400" y="3657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9224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47472" y="4041648"/>
            <a:ext cx="8476488" cy="457200"/>
          </a:xfrm>
          <a:prstGeom prst="rect">
            <a:avLst/>
          </a:prstGeom>
          <a:solidFill>
            <a:srgbClr val="F0F7F4"/>
          </a:solidFill>
          <a:ln/>
        </p:spPr>
      </p:sp>
      <p:sp>
        <p:nvSpPr>
          <p:cNvPr id="41" name="Shape 39"/>
          <p:cNvSpPr/>
          <p:nvPr/>
        </p:nvSpPr>
        <p:spPr>
          <a:xfrm>
            <a:off x="347472" y="4041648"/>
            <a:ext cx="64008" cy="4572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133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순이익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331720" y="4133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≈$15.90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343400" y="41330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≈₩21,222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492240" y="4133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7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≈₩12,804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47472" y="4517136"/>
            <a:ext cx="8476488" cy="457200"/>
          </a:xfrm>
          <a:prstGeom prst="rect">
            <a:avLst/>
          </a:prstGeom>
          <a:solidFill>
            <a:srgbClr val="F0F7F4"/>
          </a:solidFill>
          <a:ln/>
        </p:spPr>
      </p:sp>
      <p:sp>
        <p:nvSpPr>
          <p:cNvPr id="47" name="Shape 45"/>
          <p:cNvSpPr/>
          <p:nvPr/>
        </p:nvSpPr>
        <p:spPr>
          <a:xfrm>
            <a:off x="347472" y="4517136"/>
            <a:ext cx="64008" cy="4572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608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순마진율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2331720" y="46085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31.8%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343400" y="46085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31.2%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492240" y="46085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7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20.7%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47472" y="5010912"/>
            <a:ext cx="8476488" cy="118872"/>
          </a:xfrm>
          <a:prstGeom prst="rect">
            <a:avLst/>
          </a:prstGeom>
          <a:solidFill>
            <a:srgbClr val="1A6B3C">
              <a:alpha val="15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457200" y="5020056"/>
            <a:ext cx="8321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스마트스토어 마진이 쿠팡보다 10%p 높음 → 스마트스토어를 먼저 안정화한 뒤 쿠팡 진입이 맞는 순서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B85042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B8504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887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502920" y="2423160"/>
            <a:ext cx="50292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56032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월별 액션 플랜 &amp; 마일스톤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331012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12개월 체크리스트 / KPI / 리스크 관리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Month 1~5: Etsy 단독 셋업 &amp; 위닝 확정 (주차별)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47472" y="914400"/>
            <a:ext cx="4251960" cy="1810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14400"/>
            <a:ext cx="4251960" cy="38404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97840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1~2 — 계정 &amp; 소싱 셋업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344168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셀러 계정 개설 + Payoneer 연동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1609344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Net60 가입 → 드랍쉬핑 허용 공급사 20개 리스트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874520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Claude로 카테고리 리서치 (캔들·반려동물·주방 3개)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2139696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마진 계산 시트 작성 → 후보 20개→5개 필터링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2404872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 파트너십 이메일 3건 발송 (Claude 초안)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82312" y="914400"/>
            <a:ext cx="4251960" cy="1810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82312" y="914400"/>
            <a:ext cx="4251960" cy="384048"/>
          </a:xfrm>
          <a:prstGeom prst="rect">
            <a:avLst/>
          </a:prstGeom>
          <a:solidFill>
            <a:srgbClr val="D47A2A"/>
          </a:solidFill>
          <a:ln/>
        </p:spPr>
      </p:sp>
      <p:sp>
        <p:nvSpPr>
          <p:cNvPr id="15" name="Text 13"/>
          <p:cNvSpPr/>
          <p:nvPr/>
        </p:nvSpPr>
        <p:spPr>
          <a:xfrm>
            <a:off x="4873752" y="97840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3~4 — 첫 리스팅 라이브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73752" y="1344168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Claude로 SEO 제목·태그·설명 3개 작성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73752" y="1609344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무료로 목업 이미지 5장 제작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73752" y="1874520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첫 3개 리스팅 업로드 (배송 14~21일 표기)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73752" y="2139696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Shop 프로필·배너·정책 세팅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73752" y="2404872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응답 템플릿 5개 Claude로 미리 작성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2852928"/>
            <a:ext cx="4251960" cy="1810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2852928"/>
            <a:ext cx="4251960" cy="384048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" y="291693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2~3 — 테스트 &amp; 최적화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" y="3282696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조회수 일일 체크 → 클릭률 1% 미만이면 제목 수정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8912" y="3547872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5개 추가 업로드 (주 2개 페이스)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8912" y="3813048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주문 발생 시 공급사 즉시 발주 → 운송장 확보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" y="4078224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5개+ 목표 (구매 후 리뷰 요청 메시지 발송)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8912" y="4343400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배송 지연 사례 분석 → 리드타임 재조정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82312" y="2852928"/>
            <a:ext cx="4251960" cy="1810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82312" y="2852928"/>
            <a:ext cx="4251960" cy="384048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31" name="Text 29"/>
          <p:cNvSpPr/>
          <p:nvPr/>
        </p:nvSpPr>
        <p:spPr>
          <a:xfrm>
            <a:off x="4873752" y="291693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4~5 — 위닝 상품 확정 &amp; 2단계 준비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73752" y="3282696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리스팅 10개 중 위닝 3개 확정 (전환율 기준)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73752" y="3547872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월 주문 30건+ 3개월 달성 확인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73752" y="3813048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Seller 조건 충족 체크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73752" y="4078224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사업자 등록 신청 (2단계 KR 진입 준비)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73752" y="4343400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스마트스토어 판매자 계정 사전 신청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7472" y="4736592"/>
            <a:ext cx="8476488" cy="347472"/>
          </a:xfrm>
          <a:prstGeom prst="rect">
            <a:avLst/>
          </a:prstGeom>
          <a:solidFill>
            <a:srgbClr val="B85042">
              <a:alpha val="1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7640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Phase 1 최종 KPI: Etsy 월 주문 30건+ / 위닝 상품 3개 확정 / 리뷰 20개+ / 사업자 등록 완료 → 2단계 진입 조건 충족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2~3 — Month 6~12: 한국 채널 진입 &amp; 3채널 운영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47472" y="914400"/>
            <a:ext cx="8476488" cy="13075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14400"/>
            <a:ext cx="8476488" cy="384048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9784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6~8 | 스마트스토어 진입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344168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스마트스토어 계정 개설 + 해외직구 카테고리 설정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26280" y="1344168"/>
            <a:ext cx="42245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배대지(몰테일 등) 연동 → 미국 공급사→한국 고객 배송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618488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위닝 상품 3개 → 스마트스토어 리스팅 이식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26280" y="1618488"/>
            <a:ext cx="42245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가격: Etsy 달러가 × 1,400원 × 1.3배 (마진 확보)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1892808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Claude로 네이버 쇼핑 SEO 최적화 (한국어 제목·태그)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26280" y="1892808"/>
            <a:ext cx="42245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CS 프로세스 수립 (Claude 템플릿)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2075688"/>
            <a:ext cx="8476488" cy="128016"/>
          </a:xfrm>
          <a:prstGeom prst="rect">
            <a:avLst/>
          </a:prstGeom>
          <a:solidFill>
            <a:srgbClr val="1A6B3C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2093976"/>
            <a:ext cx="8229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스마트스토어 월 주문 30건+ / 채널 합산 월 $3,000+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2304288"/>
            <a:ext cx="8476488" cy="13075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2304288"/>
            <a:ext cx="8476488" cy="384048"/>
          </a:xfrm>
          <a:prstGeom prst="rect">
            <a:avLst/>
          </a:prstGeom>
          <a:solidFill>
            <a:srgbClr val="D47A2A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23682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9~10 | 자동화 고도화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2734056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Basic $9/월 전환 → Etsy+스마트스토어 동시 자동화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26280" y="2734056"/>
            <a:ext cx="42245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공급사 3개로 다각화 (단일 공급사 리스크 제거)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" y="3008376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광고 ROAS 3+ 상품에 예산 집중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26280" y="3008376"/>
            <a:ext cx="42245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수익 리포트 Claude 자동 분석 루틴화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" y="3282696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25개+ 리스팅 (Etsy+스마트스토어 합산)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26280" y="3282696"/>
            <a:ext cx="42245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쿠팡 진입 가능성 데이터 검토 (스마트스토어 3개월 데이터)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" y="3465576"/>
            <a:ext cx="8476488" cy="128016"/>
          </a:xfrm>
          <a:prstGeom prst="rect">
            <a:avLst/>
          </a:prstGeom>
          <a:solidFill>
            <a:srgbClr val="D47A2A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" y="3483864"/>
            <a:ext cx="8229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무인처리율 60%+ / 월 순이익 $800+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7472" y="3694176"/>
            <a:ext cx="8476488" cy="13075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7472" y="3694176"/>
            <a:ext cx="8476488" cy="384048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" y="37581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11~12 | 쿠팡 진입 &amp; 완전 자동화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" y="4123944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쿠팡 아이템위너 계정 개설 + 스마트스토어 위닝 상품 투입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26280" y="4123944"/>
            <a:ext cx="42245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자동화율 70%+ 달성 (주 5~7시간 이하 운영)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5488" y="4398264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쿠팡 가격: 스마트스토어 대비 10~15% 낮게 설정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26280" y="4398264"/>
            <a:ext cx="42245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계획 수립: 브랜드화 or 채널 추가 확장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5488" y="4672584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40개+ (3채널 합산) 운영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26280" y="4672584"/>
            <a:ext cx="42245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합산 순이익 $1,500+ 달성 시 재투자 전략 논의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47472" y="4855464"/>
            <a:ext cx="8476488" cy="128016"/>
          </a:xfrm>
          <a:prstGeom prst="rect">
            <a:avLst/>
          </a:prstGeom>
          <a:solidFill>
            <a:srgbClr val="4A7C59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" y="4873752"/>
            <a:ext cx="8229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3채널 합산 월 $7,000+ / 순이익 $1,500+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리스크 관리 &amp; 주간 Claude 운영 루틴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1480" y="9326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핵심 리스크 &amp; 대응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42062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61872"/>
            <a:ext cx="73152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3977640" y="1353312"/>
            <a:ext cx="566928" cy="347472"/>
          </a:xfrm>
          <a:prstGeom prst="rect">
            <a:avLst/>
          </a:prstGeom>
          <a:solidFill>
            <a:srgbClr val="C0392B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977640" y="1353312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131673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배송 14일+ 초과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153619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리드타임 21일로 표기 / 공급사 2개 유지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1856232"/>
            <a:ext cx="4206240" cy="548640"/>
          </a:xfrm>
          <a:prstGeom prst="rect">
            <a:avLst/>
          </a:prstGeom>
          <a:solidFill>
            <a:srgbClr val="F0F0EC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1856232"/>
            <a:ext cx="73152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Shape 12"/>
          <p:cNvSpPr/>
          <p:nvPr/>
        </p:nvSpPr>
        <p:spPr>
          <a:xfrm>
            <a:off x="3977640" y="1947672"/>
            <a:ext cx="566928" cy="347472"/>
          </a:xfrm>
          <a:prstGeom prst="rect">
            <a:avLst/>
          </a:prstGeom>
          <a:solidFill>
            <a:srgbClr val="C0392B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977640" y="1947672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191109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리뷰 0개 → 노출 없음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213055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5개: 지인 구매 or 샘플 후 솔직 리뷰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450592"/>
            <a:ext cx="42062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450592"/>
            <a:ext cx="73152" cy="548640"/>
          </a:xfrm>
          <a:prstGeom prst="rect">
            <a:avLst/>
          </a:prstGeom>
          <a:solidFill>
            <a:srgbClr val="D47A2A"/>
          </a:solidFill>
          <a:ln/>
        </p:spPr>
      </p:sp>
      <p:sp>
        <p:nvSpPr>
          <p:cNvPr id="20" name="Shape 18"/>
          <p:cNvSpPr/>
          <p:nvPr/>
        </p:nvSpPr>
        <p:spPr>
          <a:xfrm>
            <a:off x="3977640" y="2542032"/>
            <a:ext cx="566928" cy="347472"/>
          </a:xfrm>
          <a:prstGeom prst="rect">
            <a:avLst/>
          </a:prstGeom>
          <a:solidFill>
            <a:srgbClr val="D47A2A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977640" y="2542032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" y="250545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스마트스토어 배송 민원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272491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해외직구 카테고리 + 배송기간 명확 표기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3044952"/>
            <a:ext cx="4206240" cy="548640"/>
          </a:xfrm>
          <a:prstGeom prst="rect">
            <a:avLst/>
          </a:prstGeom>
          <a:solidFill>
            <a:srgbClr val="F0F0EC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044952"/>
            <a:ext cx="73152" cy="548640"/>
          </a:xfrm>
          <a:prstGeom prst="rect">
            <a:avLst/>
          </a:prstGeom>
          <a:solidFill>
            <a:srgbClr val="D47A2A"/>
          </a:solidFill>
          <a:ln/>
        </p:spPr>
      </p:sp>
      <p:sp>
        <p:nvSpPr>
          <p:cNvPr id="26" name="Shape 24"/>
          <p:cNvSpPr/>
          <p:nvPr/>
        </p:nvSpPr>
        <p:spPr>
          <a:xfrm>
            <a:off x="3977640" y="3136392"/>
            <a:ext cx="566928" cy="347472"/>
          </a:xfrm>
          <a:prstGeom prst="rect">
            <a:avLst/>
          </a:prstGeom>
          <a:solidFill>
            <a:srgbClr val="D47A2A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977640" y="3136392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" y="309981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쿠팡 가격 경쟁 심화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6928" y="331927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마진 10%+ 확보 안 되면 쿠팡 진입 보류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3639312"/>
            <a:ext cx="42062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" y="3639312"/>
            <a:ext cx="73152" cy="548640"/>
          </a:xfrm>
          <a:prstGeom prst="rect">
            <a:avLst/>
          </a:prstGeom>
          <a:solidFill>
            <a:srgbClr val="D47A2A"/>
          </a:solidFill>
          <a:ln/>
        </p:spPr>
      </p:sp>
      <p:sp>
        <p:nvSpPr>
          <p:cNvPr id="32" name="Shape 30"/>
          <p:cNvSpPr/>
          <p:nvPr/>
        </p:nvSpPr>
        <p:spPr>
          <a:xfrm>
            <a:off x="3977640" y="3730752"/>
            <a:ext cx="566928" cy="347472"/>
          </a:xfrm>
          <a:prstGeom prst="rect">
            <a:avLst/>
          </a:prstGeom>
          <a:solidFill>
            <a:srgbClr val="D47A2A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977640" y="3730752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6928" y="369417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공급사 승인 거부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" y="391363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 직접 이메일 병행 / Spocket 대체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1480" y="4233672"/>
            <a:ext cx="4206240" cy="548640"/>
          </a:xfrm>
          <a:prstGeom prst="rect">
            <a:avLst/>
          </a:prstGeom>
          <a:solidFill>
            <a:srgbClr val="F0F0EC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11480" y="4233672"/>
            <a:ext cx="73152" cy="548640"/>
          </a:xfrm>
          <a:prstGeom prst="rect">
            <a:avLst/>
          </a:prstGeom>
          <a:solidFill>
            <a:srgbClr val="D47A2A"/>
          </a:solidFill>
          <a:ln/>
        </p:spPr>
      </p:sp>
      <p:sp>
        <p:nvSpPr>
          <p:cNvPr id="38" name="Shape 36"/>
          <p:cNvSpPr/>
          <p:nvPr/>
        </p:nvSpPr>
        <p:spPr>
          <a:xfrm>
            <a:off x="3977640" y="4325112"/>
            <a:ext cx="566928" cy="347472"/>
          </a:xfrm>
          <a:prstGeom prst="rect">
            <a:avLst/>
          </a:prstGeom>
          <a:solidFill>
            <a:srgbClr val="D47A2A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3977640" y="4325112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66928" y="428853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환율 급변 (±10%)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66928" y="450799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판매가 5% 버퍼 / Payoneer 달러 잔액 유지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54880" y="9326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🤖 주간 Claude 운영 루틴 (5~10시간/주)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754880" y="1261872"/>
            <a:ext cx="4114800" cy="667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1261872"/>
            <a:ext cx="914400" cy="667512"/>
          </a:xfrm>
          <a:prstGeom prst="rect">
            <a:avLst/>
          </a:prstGeom>
          <a:solidFill>
            <a:srgbClr val="B85042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4754880" y="14173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월요일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742432" y="130759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신상품 20개 → Claude 마진 분석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742432" y="156362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위닝 후보 Etsy 리스팅 작성 (SEO)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138160" y="1426464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2h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754880" y="1993392"/>
            <a:ext cx="4114800" cy="667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54880" y="1993392"/>
            <a:ext cx="914400" cy="667512"/>
          </a:xfrm>
          <a:prstGeom prst="rect">
            <a:avLst/>
          </a:prstGeom>
          <a:solidFill>
            <a:srgbClr val="B85042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4754880" y="21488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화요일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742432" y="203911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전주 주문 CS 처리 (Claude 템플릿)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742432" y="229514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공급사 배송 현황 + 운송장 업데이트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138160" y="2157984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1h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754880" y="2724912"/>
            <a:ext cx="4114800" cy="667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754880" y="2724912"/>
            <a:ext cx="914400" cy="667512"/>
          </a:xfrm>
          <a:prstGeom prst="rect">
            <a:avLst/>
          </a:prstGeom>
          <a:solidFill>
            <a:srgbClr val="B85042">
              <a:alpha val="2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4754880" y="28803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수요일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742432" y="277063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Etsy/스마트스토어 통계 분석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742432" y="30266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하위 리스팅 Claude 최적화 요청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8138160" y="2889504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1.5h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754880" y="3456432"/>
            <a:ext cx="4114800" cy="667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754880" y="3456432"/>
            <a:ext cx="914400" cy="667512"/>
          </a:xfrm>
          <a:prstGeom prst="rect">
            <a:avLst/>
          </a:prstGeom>
          <a:solidFill>
            <a:srgbClr val="B85042">
              <a:alpha val="2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4754880" y="361188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금요일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742432" y="35021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채널별 수익·비용 정산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742432" y="375818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다음주 소싱 Claude 브레인스토밍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8138160" y="3621024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1h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754880" y="4187952"/>
            <a:ext cx="4114800" cy="667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4754880" y="4187952"/>
            <a:ext cx="914400" cy="667512"/>
          </a:xfrm>
          <a:prstGeom prst="rect">
            <a:avLst/>
          </a:prstGeom>
          <a:solidFill>
            <a:srgbClr val="B85042">
              <a:alpha val="20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4754880" y="43434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수시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5742432" y="423367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발생 즉시 공급사 발주 (5분)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5742432" y="448970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알림 → 감사 메시지 발송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8138160" y="4352544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~5분/건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B85042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B85042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0"/>
            <a:ext cx="822960" cy="5143500"/>
          </a:xfrm>
          <a:prstGeom prst="rect">
            <a:avLst/>
          </a:prstGeom>
          <a:solidFill>
            <a:srgbClr val="B85042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74320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오늘 시작하는 3일 플랜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Etsy US 안정화 → Phase 2: 스마트스토어 → Phase 3: 쿠팡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298448"/>
            <a:ext cx="2743200" cy="269748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1298448"/>
            <a:ext cx="2743200" cy="42062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325880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DAY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783080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셀러 계정 개설 + Payoneer 연동 (45분)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313432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Faire.com 가입 → Net60 필터 탐색 (1시간)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843784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Claude에 요청: 캔들·반려동물·주방 카테고리 Etsy US 니치 5개 분석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374136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홈택스 사업자 등록 서류 확인 (Month 5 전 완료 목표)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19272" y="1298448"/>
            <a:ext cx="2743200" cy="269748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319272" y="1298448"/>
            <a:ext cx="2743200" cy="420624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7" name="Text 15"/>
          <p:cNvSpPr/>
          <p:nvPr/>
        </p:nvSpPr>
        <p:spPr>
          <a:xfrm>
            <a:off x="3410712" y="1325880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📦 DAY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10712" y="1783080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상품 후보 20개 추출 (1시간)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10712" y="2313432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Claude와 마진 계산 → 20개→5개 필터링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10712" y="2843784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파트너십 이메일 3개 발송 (Claude 초안, 20분)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10712" y="3374136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스마트스토어 판매자 계정 사전 확인 (2단계 대비)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27064" y="1298448"/>
            <a:ext cx="2743200" cy="269748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227064" y="1298448"/>
            <a:ext cx="2743200" cy="420624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24" name="Text 22"/>
          <p:cNvSpPr/>
          <p:nvPr/>
        </p:nvSpPr>
        <p:spPr>
          <a:xfrm>
            <a:off x="6318504" y="1325880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🚀 DAY 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18504" y="1783080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상품 3개 확정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18504" y="2313432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Claude로 Etsy SEO 제목·태그·설명 작성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18504" y="2843784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무료 목업 이미지 제작 (30분)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18504" y="3374136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첫 리스팅 3개 업로드 — LIVE 🎉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4178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목표 (Month 5): Etsy 월 30건 / 위닝 3개 / 리뷰 20개+ / 사업자 등록 완료 → 스마트스토어 진입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45262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Etsy US → 스마트스토어 → 쿠팡. 오늘 Day 1.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2026-02-28T16:57:00Z</dcterms:created>
  <dcterms:modified xsi:type="dcterms:W3CDTF">2026-02-28T16:57:00Z</dcterms:modified>
</cp:coreProperties>
</file>